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9606ca003540a7" /><Relationship Type="http://schemas.openxmlformats.org/officeDocument/2006/relationships/extended-properties" Target="/docProps/app.xml" Id="R792fe0e2e2da4b63" /><Relationship Type="http://schemas.openxmlformats.org/officeDocument/2006/relationships/officeDocument" Target="/ppt/presentation.xml" Id="R4f2d39a69ac647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850ed697744364"/>
  </p:sldMasterIdLst>
  <p:notesMasterIdLst>
    <p:notesMasterId xmlns:r="http://schemas.openxmlformats.org/officeDocument/2006/relationships" r:id="R14c53ec8f30649c1"/>
  </p:notesMasterIdLst>
  <p:sldIdLst>
    <p:sldId xmlns:r="http://schemas.openxmlformats.org/officeDocument/2006/relationships" id="256" r:id="R071b9bf6b8164c71"/>
    <p:sldId xmlns:r="http://schemas.openxmlformats.org/officeDocument/2006/relationships" id="257" r:id="R49cf7c789a6543b8"/>
    <p:sldId xmlns:r="http://schemas.openxmlformats.org/officeDocument/2006/relationships" id="258" r:id="R5b49f2c601804772"/>
    <p:sldId xmlns:r="http://schemas.openxmlformats.org/officeDocument/2006/relationships" id="259" r:id="Raa42f8975a8d4c42"/>
    <p:sldId xmlns:r="http://schemas.openxmlformats.org/officeDocument/2006/relationships" id="260" r:id="Ra26b94e59fc44525"/>
    <p:sldId xmlns:r="http://schemas.openxmlformats.org/officeDocument/2006/relationships" id="261" r:id="R07ca890b67654c75"/>
    <p:sldId xmlns:r="http://schemas.openxmlformats.org/officeDocument/2006/relationships" id="262" r:id="R4b43cd3b897a4452"/>
    <p:sldId xmlns:r="http://schemas.openxmlformats.org/officeDocument/2006/relationships" id="263" r:id="R7d82fbe3dc6a4d5a"/>
    <p:sldId xmlns:r="http://schemas.openxmlformats.org/officeDocument/2006/relationships" id="264" r:id="Rf52b841b44874b4e"/>
    <p:sldId xmlns:r="http://schemas.openxmlformats.org/officeDocument/2006/relationships" id="265" r:id="Rb2d3149f25e84e56"/>
    <p:sldId xmlns:r="http://schemas.openxmlformats.org/officeDocument/2006/relationships" id="266" r:id="R645be76aa2ba416b"/>
    <p:sldId xmlns:r="http://schemas.openxmlformats.org/officeDocument/2006/relationships" id="267" r:id="Rcdc959e8832c4472"/>
    <p:sldId xmlns:r="http://schemas.openxmlformats.org/officeDocument/2006/relationships" id="268" r:id="Rebdc312abfd54a57"/>
    <p:sldId xmlns:r="http://schemas.openxmlformats.org/officeDocument/2006/relationships" id="269" r:id="R6b93ee3792984d31"/>
    <p:sldId xmlns:r="http://schemas.openxmlformats.org/officeDocument/2006/relationships" id="270" r:id="R332d60c9d9c744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4952a22b764d3d" /><Relationship Type="http://schemas.openxmlformats.org/officeDocument/2006/relationships/slideMaster" Target="/ppt/slideMasters/slideMaster1.xml" Id="R45850ed697744364" /><Relationship Type="http://schemas.openxmlformats.org/officeDocument/2006/relationships/notesMaster" Target="/ppt/notesMasters/notesMaster1.xml" Id="R14c53ec8f30649c1" /><Relationship Type="http://schemas.openxmlformats.org/officeDocument/2006/relationships/presProps" Target="/ppt/presProps.xml" Id="R5749a90c9f9f4e57" /><Relationship Type="http://schemas.openxmlformats.org/officeDocument/2006/relationships/tableStyles" Target="/ppt/tableStyles.xml" Id="Rc9cc986e6f134fd7" /><Relationship Type="http://schemas.openxmlformats.org/officeDocument/2006/relationships/slide" Target="/ppt/slides/slide1.xml" Id="R071b9bf6b8164c71" /><Relationship Type="http://schemas.openxmlformats.org/officeDocument/2006/relationships/slide" Target="/ppt/slides/slide2.xml" Id="R49cf7c789a6543b8" /><Relationship Type="http://schemas.openxmlformats.org/officeDocument/2006/relationships/slide" Target="/ppt/slides/slide3.xml" Id="R5b49f2c601804772" /><Relationship Type="http://schemas.openxmlformats.org/officeDocument/2006/relationships/slide" Target="/ppt/slides/slide4.xml" Id="Raa42f8975a8d4c42" /><Relationship Type="http://schemas.openxmlformats.org/officeDocument/2006/relationships/slide" Target="/ppt/slides/slide5.xml" Id="Ra26b94e59fc44525" /><Relationship Type="http://schemas.openxmlformats.org/officeDocument/2006/relationships/slide" Target="/ppt/slides/slide6.xml" Id="R07ca890b67654c75" /><Relationship Type="http://schemas.openxmlformats.org/officeDocument/2006/relationships/slide" Target="/ppt/slides/slide7.xml" Id="R4b43cd3b897a4452" /><Relationship Type="http://schemas.openxmlformats.org/officeDocument/2006/relationships/slide" Target="/ppt/slides/slide8.xml" Id="R7d82fbe3dc6a4d5a" /><Relationship Type="http://schemas.openxmlformats.org/officeDocument/2006/relationships/slide" Target="/ppt/slides/slide9.xml" Id="Rf52b841b44874b4e" /><Relationship Type="http://schemas.openxmlformats.org/officeDocument/2006/relationships/slide" Target="/ppt/slides/slide10.xml" Id="Rb2d3149f25e84e56" /><Relationship Type="http://schemas.openxmlformats.org/officeDocument/2006/relationships/slide" Target="/ppt/slides/slide11.xml" Id="R645be76aa2ba416b" /><Relationship Type="http://schemas.openxmlformats.org/officeDocument/2006/relationships/slide" Target="/ppt/slides/slide12.xml" Id="Rcdc959e8832c4472" /><Relationship Type="http://schemas.openxmlformats.org/officeDocument/2006/relationships/slide" Target="/ppt/slides/slide13.xml" Id="Rebdc312abfd54a57" /><Relationship Type="http://schemas.openxmlformats.org/officeDocument/2006/relationships/slide" Target="/ppt/slides/slide14.xml" Id="R6b93ee3792984d31" /><Relationship Type="http://schemas.openxmlformats.org/officeDocument/2006/relationships/slide" Target="/ppt/slides/slide15.xml" Id="R332d60c9d9c744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e22ca70afc444a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adcd46e6b5472d" /><Relationship Type="http://schemas.openxmlformats.org/officeDocument/2006/relationships/notesMaster" Target="/ppt/notesMasters/notesMaster1.xml" Id="R18631c51041848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2a6dd568e242ab" /><Relationship Type="http://schemas.openxmlformats.org/officeDocument/2006/relationships/notesMaster" Target="/ppt/notesMasters/notesMaster1.xml" Id="R2d4e4e4098a1422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633078beac64094" /><Relationship Type="http://schemas.openxmlformats.org/officeDocument/2006/relationships/notesMaster" Target="/ppt/notesMasters/notesMaster1.xml" Id="Rc9d70de06c7442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b2f766ff5c4769" /><Relationship Type="http://schemas.openxmlformats.org/officeDocument/2006/relationships/notesMaster" Target="/ppt/notesMasters/notesMaster1.xml" Id="Rc8bf8d596deb41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e738a36f988401f" /><Relationship Type="http://schemas.openxmlformats.org/officeDocument/2006/relationships/notesMaster" Target="/ppt/notesMasters/notesMaster1.xml" Id="Rcdf961c0e683465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fcb438e6eaf49ad" /><Relationship Type="http://schemas.openxmlformats.org/officeDocument/2006/relationships/notesMaster" Target="/ppt/notesMasters/notesMaster1.xml" Id="Rc6fef4eb4c3546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2304ecbfa314cb2" /><Relationship Type="http://schemas.openxmlformats.org/officeDocument/2006/relationships/notesMaster" Target="/ppt/notesMasters/notesMaster1.xml" Id="Rbf15f9070daf48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a92d2b102b40c9" /><Relationship Type="http://schemas.openxmlformats.org/officeDocument/2006/relationships/notesMaster" Target="/ppt/notesMasters/notesMaster1.xml" Id="Rd43994a0340a47d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ad4ed8e76640f1" /><Relationship Type="http://schemas.openxmlformats.org/officeDocument/2006/relationships/notesMaster" Target="/ppt/notesMasters/notesMaster1.xml" Id="Re3bd9bc317a4407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079e2af447426a" /><Relationship Type="http://schemas.openxmlformats.org/officeDocument/2006/relationships/notesMaster" Target="/ppt/notesMasters/notesMaster1.xml" Id="R517aa932c65c4b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d50dfb55faa465a" /><Relationship Type="http://schemas.openxmlformats.org/officeDocument/2006/relationships/notesMaster" Target="/ppt/notesMasters/notesMaster1.xml" Id="Rd428c3689f034e7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8fd44dd1a254645" /><Relationship Type="http://schemas.openxmlformats.org/officeDocument/2006/relationships/notesMaster" Target="/ppt/notesMasters/notesMaster1.xml" Id="Rd33a759a230649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7a5234c07c4455" /><Relationship Type="http://schemas.openxmlformats.org/officeDocument/2006/relationships/notesMaster" Target="/ppt/notesMasters/notesMaster1.xml" Id="R946c8ef8378d48f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a063581cbc496e" /><Relationship Type="http://schemas.openxmlformats.org/officeDocument/2006/relationships/notesMaster" Target="/ppt/notesMasters/notesMaster1.xml" Id="Ref63c950cc7541d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422c7d5e73ab42f4" /><Relationship Type="http://schemas.openxmlformats.org/officeDocument/2006/relationships/notesMaster" Target="/ppt/notesMasters/notesMaster1.xml" Id="R6e04eacffbb44ff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封面。交付以可编辑 PPTX 为主；所有数据和推荐均在后续页标注来源与不确定性。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S17 国务院办公厅 2026 国庆假期 — https://big5.www.gov.cn/gate/big5/www.gov.cn/yaowen/liebiao/202511/content_7047099.htm</a:t>
            </a:r>
          </a:p>
          <a:p xmlns:a="http://schemas.openxmlformats.org/drawingml/2006/main">
            <a:r>
              <a:t>S18 2026 国庆高速免费说明 — https://www.beijing.gov.cn/ywdt/gzdt/202511/t20251107_4265508.html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本页为综合判断，分数与预算来自研究组的统一模型；模型不是订单报价。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S17 国务院办公厅 2026 国庆假期 — https://big5.www.gov.cn/gate/big5/www.gov.cn/yaowen/liebiao/202511/content_7047099.htm</a:t>
            </a:r>
          </a:p>
          <a:p xmlns:a="http://schemas.openxmlformats.org/drawingml/2006/main">
            <a:r>
              <a:t>S18 2026 国庆高速免费说明 — https://www.beijing.gov.cn/ywdt/gzdt/202511/t20251107_4265508.html</a:t>
            </a:r>
          </a:p>
          <a:p xmlns:a="http://schemas.openxmlformats.org/drawingml/2006/main">
            <a:r>
              <a:t>S22 呼和浩特白塔机场 2026 航季 — https://inews.nmgnews.com.cn/system/2026/03/29/030326703.shtml</a:t>
            </a:r>
          </a:p>
          <a:p xmlns:a="http://schemas.openxmlformats.org/drawingml/2006/main">
            <a:r>
              <a:t>S24 中国天气网额济纳气候/胡杨 — https://news.weather.com.cn/2024/10/3922118.shtml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评分由研究组按用户约束统一评估，建议若改变权重后重新看结论。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S17 国务院办公厅 2026 国庆假期 — https://big5.www.gov.cn/gate/big5/www.gov.cn/yaowen/liebiao/202511/content_7047099.htm</a:t>
            </a:r>
          </a:p>
          <a:p xmlns:a="http://schemas.openxmlformats.org/drawingml/2006/main">
            <a:r>
              <a:t>S22 呼和浩特白塔机场 2026 航季 — https://inews.nmgnews.com.cn/system/2026/03/29/030326703.shtml</a:t>
            </a:r>
          </a:p>
          <a:p xmlns:a="http://schemas.openxmlformats.org/drawingml/2006/main">
            <a:r>
              <a:t>S23 内蒙古国庆交通预测 — https://nm.people.com.cn/n2/2025/0929/c196689-41368554.html</a:t>
            </a:r>
          </a:p>
          <a:p xmlns:a="http://schemas.openxmlformats.org/drawingml/2006/main">
            <a:r>
              <a:t>S24 中国天气网额济纳气候/胡杨 — https://news.weather.com.cn/2024/10/3922118.shtml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假期和高速免费按官方公开信息；拥堵时段是历史研判参考，2026年9月底需重新查实时路况。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S17 国务院办公厅 2026 国庆假期 — https://big5.www.gov.cn/gate/big5/www.gov.cn/yaowen/liebiao/202511/content_7047099.htm</a:t>
            </a:r>
          </a:p>
          <a:p xmlns:a="http://schemas.openxmlformats.org/drawingml/2006/main">
            <a:r>
              <a:t>S18 2026 国庆高速免费说明 — https://www.beijing.gov.cn/ywdt/gzdt/202511/t20251107_4265508.html</a:t>
            </a:r>
          </a:p>
          <a:p xmlns:a="http://schemas.openxmlformats.org/drawingml/2006/main">
            <a:r>
              <a:t>S19 贵州公路国庆拥堵研判（历史参考） — https://glj.guizhou.gov.cn/xwzx_500473/yw/202509/t20250930_88672139.html</a:t>
            </a:r>
          </a:p>
          <a:p xmlns:a="http://schemas.openxmlformats.org/drawingml/2006/main">
            <a:r>
              <a:t>S23 内蒙古国庆交通预测 — https://nm.people.com.cn/n2/2025/0929/c196689-41368554.html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路线与驾驶距离为公开路线参考及研究组综合；最终导航以高德/百度出发当天实时路况为准。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S11 黄果树官方游览信息 — https://movement.gzstv.com/news/detail/HPzWJ9/</a:t>
            </a:r>
          </a:p>
          <a:p xmlns:a="http://schemas.openxmlformats.org/drawingml/2006/main">
            <a:r>
              <a:t>S12 万峰林景区官网 — https://www.wanfenglin.cn/wanfenglingaishu.html</a:t>
            </a:r>
          </a:p>
          <a:p xmlns:a="http://schemas.openxmlformats.org/drawingml/2006/main">
            <a:r>
              <a:t>S14 织金洞世界地质公园官网 — https://www.zjdgeopark.com/cn</a:t>
            </a:r>
          </a:p>
          <a:p xmlns:a="http://schemas.openxmlformats.org/drawingml/2006/main">
            <a:r>
              <a:t>S19 贵州公路国庆拥堵研判（历史参考） — https://glj.guizhou.gov.cn/xwzx_500473/yw/202509/t20250930_88672139.html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小七孔客流与西江接驳风险是高强度版的主要不确定性；西江景区内自驾受限，住西门外更稳。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S15 荔波小七孔官方规划/报道 — https://www.forestry.gov.cn/lyj/1/dfdt/20260612/675979.html</a:t>
            </a:r>
          </a:p>
          <a:p xmlns:a="http://schemas.openxmlformats.org/drawingml/2006/main">
            <a:r>
              <a:t>S16 西江千户苗寨官方票价 — https://www.xjqhmz.com/news/detail?id=767709855313141762&amp;type=news-notice</a:t>
            </a:r>
          </a:p>
          <a:p xmlns:a="http://schemas.openxmlformats.org/drawingml/2006/main">
            <a:r>
              <a:t>S19 贵州公路国庆拥堵研判（历史参考） — https://glj.guizhou.gov.cn/xwzx_500473/yw/202509/t20250930_88672139.html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呼和浩特往返是内蒙古的稳妥版本；响沙湾景区内部使用景区交通，租赁车不建议驶入沙漠非铺装区。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S20 响沙湾官方介绍 — https://www.ixsw.cn/xsw/about/about-1.html</a:t>
            </a:r>
          </a:p>
          <a:p xmlns:a="http://schemas.openxmlformats.org/drawingml/2006/main">
            <a:r>
              <a:t>S21 响沙湾官方交通 — https://www.ixsw.cn/xsw/about/about-138.html</a:t>
            </a:r>
          </a:p>
          <a:p xmlns:a="http://schemas.openxmlformats.org/drawingml/2006/main">
            <a:r>
              <a:t>S22 呼和浩特白塔机场 2026 航季 — https://inews.nmgnews.com.cn/system/2026/03/29/030326703.shtml</a:t>
            </a:r>
          </a:p>
          <a:p xmlns:a="http://schemas.openxmlformats.org/drawingml/2006/main">
            <a:r>
              <a:t>S23 内蒙古国庆交通预测 — https://nm.people.com.cn/n2/2025/0929/c196689-41368554.html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阿拉善方案把异地还车、长距离驾驶和返程航班三种不确定性叠加；额济纳应单独做胡杨专项。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S20 响沙湾官方介绍 — https://www.ixsw.cn/xsw/about/about-1.html</a:t>
            </a:r>
          </a:p>
          <a:p xmlns:a="http://schemas.openxmlformats.org/drawingml/2006/main">
            <a:r>
              <a:t>S21 响沙湾官方交通 — https://www.ixsw.cn/xsw/about/about-138.html</a:t>
            </a:r>
          </a:p>
          <a:p xmlns:a="http://schemas.openxmlformats.org/drawingml/2006/main">
            <a:r>
              <a:t>S23 内蒙古国庆交通预测 — https://nm.people.com.cn/n2/2025/0929/c196689-41368554.html</a:t>
            </a:r>
          </a:p>
          <a:p xmlns:a="http://schemas.openxmlformats.org/drawingml/2006/main">
            <a:r>
              <a:t>S24 中国天气网额济纳气候/胡杨 — https://news.weather.com.cn/2024/10/3922118.shtml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报价区分公开样本与模型区间；模型的构建不等同于实时订单，建议在 9 月上旬/中旬按目标日期重新核价。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S01 12306 贵广客专票价说明 — https://www.12306.cn/mormhweb/zxdt/202308/t20230826_39897.html</a:t>
            </a:r>
          </a:p>
          <a:p xmlns:a="http://schemas.openxmlformats.org/drawingml/2006/main">
            <a:r>
              <a:t>S02 深圳北—贵阳北公开高铁票价 — https://www.gaotie.com.cn/lieche/shenzhenbei-guiyangbei.html</a:t>
            </a:r>
          </a:p>
          <a:p xmlns:a="http://schemas.openxmlformats.org/drawingml/2006/main">
            <a:r>
              <a:t>S03 携程深圳—贵阳机票页 — https://m.ctrip.com/html5/flight/SZX-KWE-day-1.html</a:t>
            </a:r>
          </a:p>
          <a:p xmlns:a="http://schemas.openxmlformats.org/drawingml/2006/main">
            <a:r>
              <a:t>S04 携程贵阳—深圳机票页 — https://m.ctrip.com/html5/flight/kwe-szx-day-1.html</a:t>
            </a:r>
          </a:p>
          <a:p xmlns:a="http://schemas.openxmlformats.org/drawingml/2006/main">
            <a:r>
              <a:t>S05 携程深圳—呼和浩特机票页 — https://m.ctrip.com/html5/flight/szx-het-day-1.html</a:t>
            </a:r>
          </a:p>
          <a:p xmlns:a="http://schemas.openxmlformats.org/drawingml/2006/main">
            <a:r>
              <a:t>S06 携程呼和浩特—深圳机票页 — https://m.ctrip.com/html5/flight/het-szx-day-1.html</a:t>
            </a:r>
          </a:p>
          <a:p xmlns:a="http://schemas.openxmlformats.org/drawingml/2006/main">
            <a:r>
              <a:t>S07 神州租车贵阳网点 — https://guiyang.zuche.com/</a:t>
            </a:r>
          </a:p>
          <a:p xmlns:a="http://schemas.openxmlformats.org/drawingml/2006/main">
            <a:r>
              <a:t>S08 一嗨贵阳车型页 — https://www.1hai.cn/CityCarRental/index?City=%E8%B4%B5%E9%98%B3</a:t>
            </a:r>
          </a:p>
          <a:p xmlns:a="http://schemas.openxmlformats.org/drawingml/2006/main">
            <a:r>
              <a:t>S09 神州租车呼和浩特网点 — https://huhehaote.zuche.com/</a:t>
            </a:r>
          </a:p>
          <a:p xmlns:a="http://schemas.openxmlformats.org/drawingml/2006/main">
            <a:r>
              <a:t>S10 神州租车鄂尔多斯网点 — https://eerduosi.zuche.com/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预算区间来自研究组模型，采用公开交通样本、酒店与租车参考，叠加 10%–15% 国庆机动金；不是任何平台的结算单。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S03 携程深圳—贵阳机票页 — https://m.ctrip.com/html5/flight/SZX-KWE-day-1.html</a:t>
            </a:r>
          </a:p>
          <a:p xmlns:a="http://schemas.openxmlformats.org/drawingml/2006/main">
            <a:r>
              <a:t>S04 携程贵阳—深圳机票页 — https://m.ctrip.com/html5/flight/kwe-szx-day-1.html</a:t>
            </a:r>
          </a:p>
          <a:p xmlns:a="http://schemas.openxmlformats.org/drawingml/2006/main">
            <a:r>
              <a:t>S05 携程深圳—呼和浩特机票页 — https://m.ctrip.com/html5/flight/szx-het-day-1.html</a:t>
            </a:r>
          </a:p>
          <a:p xmlns:a="http://schemas.openxmlformats.org/drawingml/2006/main">
            <a:r>
              <a:t>S06 携程呼和浩特—深圳机票页 — https://m.ctrip.com/html5/flight/het-szx-day-1.html</a:t>
            </a:r>
          </a:p>
          <a:p xmlns:a="http://schemas.openxmlformats.org/drawingml/2006/main">
            <a:r>
              <a:t>S07 神州租车贵阳网点 — https://guiyang.zuche.com/</a:t>
            </a:r>
          </a:p>
          <a:p xmlns:a="http://schemas.openxmlformats.org/drawingml/2006/main">
            <a:r>
              <a:t>S08 一嗨贵阳车型页 — https://www.1hai.cn/CityCarRental/index?City=%E8%B4%B5%E9%98%B3</a:t>
            </a:r>
          </a:p>
          <a:p xmlns:a="http://schemas.openxmlformats.org/drawingml/2006/main">
            <a:r>
              <a:t>S09 神州租车呼和浩特网点 — https://huhehaote.zuche.com/</a:t>
            </a:r>
          </a:p>
          <a:p xmlns:a="http://schemas.openxmlformats.org/drawingml/2006/main">
            <a:r>
              <a:t>S20 响沙湾官方介绍 — https://www.ixsw.cn/xsw/about/about-1.html</a:t>
            </a:r>
          </a:p>
          <a:p xmlns:a="http://schemas.openxmlformats.org/drawingml/2006/main">
            <a:r>
              <a:t>S24 中国天气网额济纳气候/胡杨 — https://news.weather.com.cn/2024/10/3922118.shtml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贵州的餐饮住宿证据相对完整，但小红书原文受登录态和动态页面限制；报告只保留检索入口和公开摘要，不把未读原文写成已核验评价。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S25 携程兴义万峰林捌舍民宿 — https://hotels.ctrip.com/hotels/15154300.html</a:t>
            </a:r>
          </a:p>
          <a:p xmlns:a="http://schemas.openxmlformats.org/drawingml/2006/main">
            <a:r>
              <a:t>S26 携程兴义万峰林隐阅山也民宿 — https://hotels.ctrip.com/hotels/100389892.html</a:t>
            </a:r>
          </a:p>
          <a:p xmlns:a="http://schemas.openxmlformats.org/drawingml/2006/main">
            <a:r>
              <a:t>S27 携程半山酒店·安顺古城店 — https://tw.trip.com/hotels/anshun-hotel-detail-38324007/mid-level-hotel/</a:t>
            </a:r>
          </a:p>
          <a:p xmlns:a="http://schemas.openxmlformats.org/drawingml/2006/main">
            <a:r>
              <a:t>S28 携程荔波山语·水岸美宿 — https://sg.trip.com/hotels/libo-hotel-detail-110419924/shanyushuian/</a:t>
            </a:r>
          </a:p>
          <a:p xmlns:a="http://schemas.openxmlformats.org/drawingml/2006/main">
            <a:r>
              <a:t>S29 大众点评老凯俚酸汤鱼公开页 — https://m.dianping.com/discovery/695584544</a:t>
            </a:r>
          </a:p>
          <a:p xmlns:a="http://schemas.openxmlformats.org/drawingml/2006/main">
            <a:r>
              <a:t>S30 大众点评老凯俚酸汤鱼相册/门店 — https://www.dianping.com/shop/24873401/photos</a:t>
            </a:r>
          </a:p>
          <a:p xmlns:a="http://schemas.openxmlformats.org/drawingml/2006/main">
            <a:r>
              <a:t>S31 大众点评金牌罗记肠旺面攻略 — https://m.dianping.com/discovery/703922120</a:t>
            </a:r>
          </a:p>
          <a:p xmlns:a="http://schemas.openxmlformats.org/drawingml/2006/main">
            <a:r>
              <a:t>S32 携程安顺餐饮列表 — https://you.ctrip.com/restaurantlist/anshun518/s0-p23.html</a:t>
            </a:r>
          </a:p>
          <a:p xmlns:a="http://schemas.openxmlformats.org/drawingml/2006/main">
            <a:r>
              <a:t>S33 携程安顺程汤圆 — https://you.ctrip.com/food/anshun518/16263081.html</a:t>
            </a:r>
          </a:p>
          <a:p xmlns:a="http://schemas.openxmlformats.org/drawingml/2006/main">
            <a:r>
              <a:t>S37 小红书：贵阳丝娃娃搜索 — https://www.xiaohongshu.com/search_result?keyword=%E8%B4%B5%E9%98%B3%20%E4%B8%9D%E5%A8%83%E5%A8%83</a:t>
            </a:r>
          </a:p>
          <a:p xmlns:a="http://schemas.openxmlformats.org/drawingml/2006/main">
            <a:r>
              <a:t>S38 小红书：安顺小吃搜索 — https://www.xiaohongshu.com/search_result?keyword=%E5%AE%89%E9%A1%BA%20%E8%A3%B9%E5%8D%B7%20%E5%A4%BA%E5%A4%BA%E7%B2%89</a:t>
            </a:r>
          </a:p>
          <a:p xmlns:a="http://schemas.openxmlformats.org/drawingml/2006/main">
            <a:r>
              <a:t>S39 小红书：荔波美食搜索 — https://www.xiaohongshu.com/search_result?keyword=%E8%8D%94%E6%B3%A2%20%E5%B0%8F%E4%B8%83%E5%AD%94%20%E7%BE%8E%E9%A3%9F</a:t>
            </a:r>
          </a:p>
          <a:p xmlns:a="http://schemas.openxmlformats.org/drawingml/2006/main">
            <a:r>
              <a:t>S40 小红书：西江酸汤鱼搜索 — https://www.xiaohongshu.com/search_result?keyword=%E8%A5%BF%E6%B1%9F%E5%8D%83%E6%88%B7%E8%8B%97%E5%AF%A8%20%E9%85%B8%E6%B1%A4%E9%B1%BC</a:t>
            </a:r>
          </a:p>
          <a:p xmlns:a="http://schemas.openxmlformats.org/drawingml/2006/main">
            <a:r>
              <a:t>S44 贵阳公开咖啡地图（含小红书引用） — https://www.sohu.com/a/901913972_121106687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内蒙古餐饮和咖啡的公开数字较少，适合用城市基地和平台搜索做保底；小红书检索入口需在 App/登录态复核。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S20 响沙湾官方介绍 — https://www.ixsw.cn/xsw/about/about-1.html</a:t>
            </a:r>
          </a:p>
          <a:p xmlns:a="http://schemas.openxmlformats.org/drawingml/2006/main">
            <a:r>
              <a:t>S21 响沙湾官方交通 — https://www.ixsw.cn/xsw/about/about-138.html</a:t>
            </a:r>
          </a:p>
          <a:p xmlns:a="http://schemas.openxmlformats.org/drawingml/2006/main">
            <a:r>
              <a:t>S34 携程呼和浩特老绥元烧麦 — https://you.ctrip.com/food/hohhot156/12513942-dianping.html</a:t>
            </a:r>
          </a:p>
          <a:p xmlns:a="http://schemas.openxmlformats.org/drawingml/2006/main">
            <a:r>
              <a:t>S35 大众点评呼市烧麦羊杂公开页 — https://www.dianping.com/shop/ilskogWYshhxQxWO/photos</a:t>
            </a:r>
          </a:p>
          <a:p xmlns:a="http://schemas.openxmlformats.org/drawingml/2006/main">
            <a:r>
              <a:t>S36 携程包头蒙餐/小肥羊列表 — https://you.ctrip.com/restaurantlist/baotou347/s0-p8.html</a:t>
            </a:r>
          </a:p>
          <a:p xmlns:a="http://schemas.openxmlformats.org/drawingml/2006/main">
            <a:r>
              <a:t>S41 小红书：呼和浩特烧麦搜索 — https://www.xiaohongshu.com/search_result?keyword=%E5%91%BC%E5%92%8C%E6%B5%A9%E7%89%B9%20%E7%83%A7%E9%BA%A6</a:t>
            </a:r>
          </a:p>
          <a:p xmlns:a="http://schemas.openxmlformats.org/drawingml/2006/main">
            <a:r>
              <a:t>S42 小红书：包头蒙餐搜索 — https://www.xiaohongshu.com/search_result?keyword=%E5%8C%85%E5%A4%B4%20%E8%92%99%E9%A4%90%20%E7%83%A7%E9%BA%A6</a:t>
            </a:r>
          </a:p>
          <a:p xmlns:a="http://schemas.openxmlformats.org/drawingml/2006/main">
            <a:r>
              <a:t>S43 小红书：鄂尔多斯响沙湾咖啡搜索 — https://www.xiaohongshu.com/search_result?keyword=%E9%84%82%E5%B0%94%E5%A4%9A%E6%96%AF%20%E5%93%8D%E6%B2%99%E6%B9%BE%20%E5%92%96%E5%95%A1</a:t>
            </a:r>
          </a:p>
          <a:p xmlns:a="http://schemas.openxmlformats.org/drawingml/2006/main">
            <a:r>
              <a:t>S45 呼和浩特东护城河咖啡街报道 — https://static.0471tv.org.cn/rb/pc/con/202411/11/content_74543.html</a:t>
            </a:r>
          </a:p>
          <a:p xmlns:a="http://schemas.openxmlformats.org/drawingml/2006/main">
            <a:r>
              <a:t>S46 呼市烧麦测评公开摘要 — https://m.sohu.com/a/915568366_122358233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本页为证据表摘要；完整 URL 见 speaker notes 与同目录 CSV。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S01 12306 贵广客专票价说明 — https://www.12306.cn/mormhweb/zxdt/202308/t20230826_39897.html</a:t>
            </a:r>
          </a:p>
          <a:p xmlns:a="http://schemas.openxmlformats.org/drawingml/2006/main">
            <a:r>
              <a:t>S02 深圳北—贵阳北公开高铁票价 — https://www.gaotie.com.cn/lieche/shenzhenbei-guiyangbei.html</a:t>
            </a:r>
          </a:p>
          <a:p xmlns:a="http://schemas.openxmlformats.org/drawingml/2006/main">
            <a:r>
              <a:t>S03 携程深圳—贵阳机票页 — https://m.ctrip.com/html5/flight/SZX-KWE-day-1.html</a:t>
            </a:r>
          </a:p>
          <a:p xmlns:a="http://schemas.openxmlformats.org/drawingml/2006/main">
            <a:r>
              <a:t>S04 携程贵阳—深圳机票页 — https://m.ctrip.com/html5/flight/kwe-szx-day-1.html</a:t>
            </a:r>
          </a:p>
          <a:p xmlns:a="http://schemas.openxmlformats.org/drawingml/2006/main">
            <a:r>
              <a:t>S05 携程深圳—呼和浩特机票页 — https://m.ctrip.com/html5/flight/szx-het-day-1.html</a:t>
            </a:r>
          </a:p>
          <a:p xmlns:a="http://schemas.openxmlformats.org/drawingml/2006/main">
            <a:r>
              <a:t>S06 携程呼和浩特—深圳机票页 — https://m.ctrip.com/html5/flight/het-szx-day-1.html</a:t>
            </a:r>
          </a:p>
          <a:p xmlns:a="http://schemas.openxmlformats.org/drawingml/2006/main">
            <a:r>
              <a:t>S07 神州租车贵阳网点 — https://guiyang.zuche.com/</a:t>
            </a:r>
          </a:p>
          <a:p xmlns:a="http://schemas.openxmlformats.org/drawingml/2006/main">
            <a:r>
              <a:t>S08 一嗨贵阳车型页 — https://www.1hai.cn/CityCarRental/index?City=%E8%B4%B5%E9%98%B3</a:t>
            </a:r>
          </a:p>
          <a:p xmlns:a="http://schemas.openxmlformats.org/drawingml/2006/main">
            <a:r>
              <a:t>S09 神州租车呼和浩特网点 — https://huhehaote.zuche.com/</a:t>
            </a:r>
          </a:p>
          <a:p xmlns:a="http://schemas.openxmlformats.org/drawingml/2006/main">
            <a:r>
              <a:t>S10 神州租车鄂尔多斯网点 — https://eerduosi.zuche.com/</a:t>
            </a:r>
          </a:p>
          <a:p xmlns:a="http://schemas.openxmlformats.org/drawingml/2006/main">
            <a:r>
              <a:t>S11 黄果树官方游览信息 — https://movement.gzstv.com/news/detail/HPzWJ9/</a:t>
            </a:r>
          </a:p>
          <a:p xmlns:a="http://schemas.openxmlformats.org/drawingml/2006/main">
            <a:r>
              <a:t>S12 万峰林景区官网 — https://www.wanfenglin.cn/wanfenglingaishu.html</a:t>
            </a:r>
          </a:p>
          <a:p xmlns:a="http://schemas.openxmlformats.org/drawingml/2006/main">
            <a:r>
              <a:t>S13 贵州省 A 级旅游景区名录 — https://drc.guizhou.gov.cn/xxgk/sqjs/gzfg/gzfg/202405/t20240523_84672683.html</a:t>
            </a:r>
          </a:p>
          <a:p xmlns:a="http://schemas.openxmlformats.org/drawingml/2006/main">
            <a:r>
              <a:t>S14 织金洞世界地质公园官网 — https://www.zjdgeopark.com/cn</a:t>
            </a:r>
          </a:p>
          <a:p xmlns:a="http://schemas.openxmlformats.org/drawingml/2006/main">
            <a:r>
              <a:t>S15 荔波小七孔官方规划/报道 — https://www.forestry.gov.cn/lyj/1/dfdt/20260612/675979.html</a:t>
            </a:r>
          </a:p>
          <a:p xmlns:a="http://schemas.openxmlformats.org/drawingml/2006/main">
            <a:r>
              <a:t>S16 西江千户苗寨官方票价 — https://www.xjqhmz.com/news/detail?id=767709855313141762&amp;type=news-notice</a:t>
            </a:r>
          </a:p>
          <a:p xmlns:a="http://schemas.openxmlformats.org/drawingml/2006/main">
            <a:r>
              <a:t>S17 国务院办公厅 2026 国庆假期 — https://big5.www.gov.cn/gate/big5/www.gov.cn/yaowen/liebiao/202511/content_7047099.htm</a:t>
            </a:r>
          </a:p>
          <a:p xmlns:a="http://schemas.openxmlformats.org/drawingml/2006/main">
            <a:r>
              <a:t>S18 2026 国庆高速免费说明 — https://www.beijing.gov.cn/ywdt/gzdt/202511/t20251107_4265508.html</a:t>
            </a:r>
          </a:p>
          <a:p xmlns:a="http://schemas.openxmlformats.org/drawingml/2006/main">
            <a:r>
              <a:t>S19 贵州公路国庆拥堵研判（历史参考） — https://glj.guizhou.gov.cn/xwzx_500473/yw/202509/t20250930_88672139.html</a:t>
            </a:r>
          </a:p>
          <a:p xmlns:a="http://schemas.openxmlformats.org/drawingml/2006/main">
            <a:r>
              <a:t>S20 响沙湾官方介绍 — https://www.ixsw.cn/xsw/about/about-1.html</a:t>
            </a:r>
          </a:p>
          <a:p xmlns:a="http://schemas.openxmlformats.org/drawingml/2006/main">
            <a:r>
              <a:t>S21 响沙湾官方交通 — https://www.ixsw.cn/xsw/about/about-138.html</a:t>
            </a:r>
          </a:p>
          <a:p xmlns:a="http://schemas.openxmlformats.org/drawingml/2006/main">
            <a:r>
              <a:t>S22 呼和浩特白塔机场 2026 航季 — https://inews.nmgnews.com.cn/system/2026/03/29/030326703.shtml</a:t>
            </a:r>
          </a:p>
          <a:p xmlns:a="http://schemas.openxmlformats.org/drawingml/2006/main">
            <a:r>
              <a:t>S23 内蒙古国庆交通预测 — https://nm.people.com.cn/n2/2025/0929/c196689-41368554.html</a:t>
            </a:r>
          </a:p>
          <a:p xmlns:a="http://schemas.openxmlformats.org/drawingml/2006/main">
            <a:r>
              <a:t>S24 中国天气网额济纳气候/胡杨 — https://news.weather.com.cn/2024/10/3922118.shtml</a:t>
            </a:r>
          </a:p>
          <a:p xmlns:a="http://schemas.openxmlformats.org/drawingml/2006/main">
            <a:r>
              <a:t>S25 携程兴义万峰林捌舍民宿 — https://hotels.ctrip.com/hotels/15154300.html</a:t>
            </a:r>
          </a:p>
          <a:p xmlns:a="http://schemas.openxmlformats.org/drawingml/2006/main">
            <a:r>
              <a:t>S26 携程兴义万峰林隐阅山也民宿 — https://hotels.ctrip.com/hotels/100389892.html</a:t>
            </a:r>
          </a:p>
          <a:p xmlns:a="http://schemas.openxmlformats.org/drawingml/2006/main">
            <a:r>
              <a:t>S27 携程半山酒店·安顺古城店 — https://tw.trip.com/hotels/anshun-hotel-detail-38324007/mid-level-hotel/</a:t>
            </a:r>
          </a:p>
          <a:p xmlns:a="http://schemas.openxmlformats.org/drawingml/2006/main">
            <a:r>
              <a:t>S28 携程荔波山语·水岸美宿 — https://sg.trip.com/hotels/libo-hotel-detail-110419924/shanyushuian/</a:t>
            </a:r>
          </a:p>
          <a:p xmlns:a="http://schemas.openxmlformats.org/drawingml/2006/main">
            <a:r>
              <a:t>S29 大众点评老凯俚酸汤鱼公开页 — https://m.dianping.com/discovery/695584544</a:t>
            </a:r>
          </a:p>
          <a:p xmlns:a="http://schemas.openxmlformats.org/drawingml/2006/main">
            <a:r>
              <a:t>S30 大众点评老凯俚酸汤鱼相册/门店 — https://www.dianping.com/shop/24873401/photos</a:t>
            </a:r>
          </a:p>
          <a:p xmlns:a="http://schemas.openxmlformats.org/drawingml/2006/main">
            <a:r>
              <a:t>S31 大众点评金牌罗记肠旺面攻略 — https://m.dianping.com/discovery/703922120</a:t>
            </a:r>
          </a:p>
          <a:p xmlns:a="http://schemas.openxmlformats.org/drawingml/2006/main">
            <a:r>
              <a:t>S32 携程安顺餐饮列表 — https://you.ctrip.com/restaurantlist/anshun518/s0-p23.html</a:t>
            </a:r>
          </a:p>
          <a:p xmlns:a="http://schemas.openxmlformats.org/drawingml/2006/main">
            <a:r>
              <a:t>S33 携程安顺程汤圆 — https://you.ctrip.com/food/anshun518/16263081.html</a:t>
            </a:r>
          </a:p>
          <a:p xmlns:a="http://schemas.openxmlformats.org/drawingml/2006/main">
            <a:r>
              <a:t>S34 携程呼和浩特老绥元烧麦 — https://you.ctrip.com/food/hohhot156/12513942-dianping.html</a:t>
            </a:r>
          </a:p>
          <a:p xmlns:a="http://schemas.openxmlformats.org/drawingml/2006/main">
            <a:r>
              <a:t>S35 大众点评呼市烧麦羊杂公开页 — https://www.dianping.com/shop/ilskogWYshhxQxWO/photos</a:t>
            </a:r>
          </a:p>
          <a:p xmlns:a="http://schemas.openxmlformats.org/drawingml/2006/main">
            <a:r>
              <a:t>S36 携程包头蒙餐/小肥羊列表 — https://you.ctrip.com/restaurantlist/baotou347/s0-p8.html</a:t>
            </a:r>
          </a:p>
          <a:p xmlns:a="http://schemas.openxmlformats.org/drawingml/2006/main">
            <a:r>
              <a:t>S37 小红书：贵阳丝娃娃搜索 — https://www.xiaohongshu.com/search_result?keyword=%E8%B4%B5%E9%98%B3%20%E4%B8%9D%E5%A8%83%E5%A8%83</a:t>
            </a:r>
          </a:p>
          <a:p xmlns:a="http://schemas.openxmlformats.org/drawingml/2006/main">
            <a:r>
              <a:t>S38 小红书：安顺小吃搜索 — https://www.xiaohongshu.com/search_result?keyword=%E5%AE%89%E9%A1%BA%20%E8%A3%B9%E5%8D%B7%20%E5%A4%BA%E5%A4%BA%E7%B2%89</a:t>
            </a:r>
          </a:p>
          <a:p xmlns:a="http://schemas.openxmlformats.org/drawingml/2006/main">
            <a:r>
              <a:t>S39 小红书：荔波美食搜索 — https://www.xiaohongshu.com/search_result?keyword=%E8%8D%94%E6%B3%A2%20%E5%B0%8F%E4%B8%83%E5%AD%94%20%E7%BE%8E%E9%A3%9F</a:t>
            </a:r>
          </a:p>
          <a:p xmlns:a="http://schemas.openxmlformats.org/drawingml/2006/main">
            <a:r>
              <a:t>S40 小红书：西江酸汤鱼搜索 — https://www.xiaohongshu.com/search_result?keyword=%E8%A5%BF%E6%B1%9F%E5%8D%83%E6%88%B7%E8%8B%97%E5%AF%A8%20%E9%85%B8%E6%B1%A4%E9%B1%BC</a:t>
            </a:r>
          </a:p>
          <a:p xmlns:a="http://schemas.openxmlformats.org/drawingml/2006/main">
            <a:r>
              <a:t>S41 小红书：呼和浩特烧麦搜索 — https://www.xiaohongshu.com/search_result?keyword=%E5%91%BC%E5%92%8C%E6%B5%A9%E7%89%B9%20%E7%83%A7%E9%BA%A6</a:t>
            </a:r>
          </a:p>
          <a:p xmlns:a="http://schemas.openxmlformats.org/drawingml/2006/main">
            <a:r>
              <a:t>S42 小红书：包头蒙餐搜索 — https://www.xiaohongshu.com/search_result?keyword=%E5%8C%85%E5%A4%B4%20%E8%92%99%E9%A4%90%20%E7%83%A7%E9%BA%A6</a:t>
            </a:r>
          </a:p>
          <a:p xmlns:a="http://schemas.openxmlformats.org/drawingml/2006/main">
            <a:r>
              <a:t>S43 小红书：鄂尔多斯响沙湾咖啡搜索 — https://www.xiaohongshu.com/search_result?keyword=%E9%84%82%E5%B0%94%E5%A4%9A%E6%96%AF%20%E5%93%8D%E6%B2%99%E6%B9%BE%20%E5%92%96%E5%95%A1</a:t>
            </a:r>
          </a:p>
          <a:p xmlns:a="http://schemas.openxmlformats.org/drawingml/2006/main">
            <a:r>
              <a:t>S44 贵阳公开咖啡地图（含小红书引用） — https://www.sohu.com/a/901913972_121106687</a:t>
            </a:r>
          </a:p>
          <a:p xmlns:a="http://schemas.openxmlformats.org/drawingml/2006/main">
            <a:r>
              <a:t>S45 呼和浩特东护城河咖啡街报道 — https://static.0471tv.org.cn/rb/pc/con/202411/11/content_74543.html</a:t>
            </a:r>
          </a:p>
          <a:p xmlns:a="http://schemas.openxmlformats.org/drawingml/2006/main">
            <a:r>
              <a:t>S46 呼市烧麦测评公开摘要 — https://m.sohu.com/a/915568366_122358233</a:t>
            </a:r>
          </a:p>
          <a:p xmlns:a="http://schemas.openxmlformats.org/drawingml/2006/main">
            <a:r>
              <a:t>S47 一嗨鄂尔多斯车型页 — https://www.1hai.cn/c_eerduosi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流程图为可编辑形状；建议把最终订单号、酒店确认电话、租车合同条款补进 PPT 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S01 12306 贵广客专票价说明 — https://www.12306.cn/mormhweb/zxdt/202308/t20230826_39897.html</a:t>
            </a:r>
          </a:p>
          <a:p xmlns:a="http://schemas.openxmlformats.org/drawingml/2006/main">
            <a:r>
              <a:t>S07 神州租车贵阳网点 — https://guiyang.zuche.com/</a:t>
            </a:r>
          </a:p>
          <a:p xmlns:a="http://schemas.openxmlformats.org/drawingml/2006/main">
            <a:r>
              <a:t>S08 一嗨贵阳车型页 — https://www.1hai.cn/CityCarRental/index?City=%E8%B4%B5%E9%98%B3</a:t>
            </a:r>
          </a:p>
          <a:p xmlns:a="http://schemas.openxmlformats.org/drawingml/2006/main">
            <a:r>
              <a:t>S17 国务院办公厅 2026 国庆假期 — https://big5.www.gov.cn/gate/big5/www.gov.cn/yaowen/liebiao/202511/content_7047099.htm</a:t>
            </a:r>
          </a:p>
          <a:p xmlns:a="http://schemas.openxmlformats.org/drawingml/2006/main">
            <a:r>
              <a:t>S18 2026 国庆高速免费说明 — https://www.beijing.gov.cn/ywdt/gzdt/202511/t20251107_4265508.html</a:t>
            </a:r>
          </a:p>
          <a:p xmlns:a="http://schemas.openxmlformats.org/drawingml/2006/main">
            <a:r>
              <a:t>S20 响沙湾官方介绍 — https://www.ixsw.cn/xsw/about/about-1.html</a:t>
            </a:r>
          </a:p>
          <a:p xmlns:a="http://schemas.openxmlformats.org/drawingml/2006/main">
            <a:r>
              <a:t>S37 小红书：贵阳丝娃娃搜索 — https://www.xiaohongshu.com/search_result?keyword=%E8%B4%B5%E9%98%B3%20%E4%B8%9D%E5%A8%83%E5%A8%83</a:t>
            </a:r>
          </a:p>
          <a:p xmlns:a="http://schemas.openxmlformats.org/drawingml/2006/main">
            <a:r>
              <a:t>S41 小红书：呼和浩特烧麦搜索 — https://www.xiaohongshu.com/search_result?keyword=%E5%91%BC%E5%92%8C%E6%B5%A9%E7%89%B9%20%E7%83%A7%E9%BA%A6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收尾：请根据返程日做路线分叉。报告没有把动态报价和小红书原文不可读部分伪装成已确认事实。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S17 国务院办公厅 2026 国庆假期 — https://big5.www.gov.cn/gate/big5/www.gov.cn/yaowen/liebiao/202511/content_7047099.htm</a:t>
            </a:r>
          </a:p>
          <a:p xmlns:a="http://schemas.openxmlformats.org/drawingml/2006/main">
            <a:r>
              <a:t>S18 2026 国庆高速免费说明 — https://www.beijing.gov.cn/ywdt/gzdt/202511/t20251107_4265508.html</a:t>
            </a:r>
          </a:p>
          <a:p xmlns:a="http://schemas.openxmlformats.org/drawingml/2006/main">
            <a:r>
              <a:t>S37 小红书：贵阳丝娃娃搜索 — https://www.xiaohongshu.com/search_result?keyword=%E8%B4%B5%E9%98%B3%20%E4%B8%9D%E5%A8%83%E5%A8%83</a:t>
            </a:r>
          </a:p>
          <a:p xmlns:a="http://schemas.openxmlformats.org/drawingml/2006/main">
            <a:r>
              <a:t>S41 小红书：呼和浩特烧麦搜索 — https://www.xiaohongshu.com/search_result?keyword=%E5%91%BC%E5%92%8C%E6%B5%A9%E7%89%B9%20%E7%83%A7%E9%BA%A6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69e0d21c249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a49e5b1e794fd0" /><Relationship Type="http://schemas.openxmlformats.org/officeDocument/2006/relationships/slideLayout" Target="/ppt/slideLayouts/slideLayout1.xml" Id="R3fbfceb929ee406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fbfceb929ee40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2a8f7cc4394442" /><Relationship Type="http://schemas.openxmlformats.org/officeDocument/2006/relationships/notesSlide" Target="/ppt/notesSlides/notesSlide1.xml" Id="Ra742bc4118f847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2dce442bc4360" /><Relationship Type="http://schemas.openxmlformats.org/officeDocument/2006/relationships/notesSlide" Target="/ppt/notesSlides/notesSlide2.xml" Id="R322064c2d23647c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76cf1f2cb94b4d" /><Relationship Type="http://schemas.openxmlformats.org/officeDocument/2006/relationships/chart" Target="/ppt/slides/charts/chart1.xml" Id="R5e2cc9a5506140d0" /><Relationship Type="http://schemas.openxmlformats.org/officeDocument/2006/relationships/notesSlide" Target="/ppt/notesSlides/notesSlide3.xml" Id="R9fd65cb8ed0140f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412a904bbe464d" /><Relationship Type="http://schemas.openxmlformats.org/officeDocument/2006/relationships/notesSlide" Target="/ppt/notesSlides/notesSlide4.xml" Id="Rbd64156224ed4a5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263f145fbf4925" /><Relationship Type="http://schemas.openxmlformats.org/officeDocument/2006/relationships/notesSlide" Target="/ppt/notesSlides/notesSlide5.xml" Id="R89baefdefba340f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625b465371455a" /><Relationship Type="http://schemas.openxmlformats.org/officeDocument/2006/relationships/notesSlide" Target="/ppt/notesSlides/notesSlide6.xml" Id="R1eca2b6b06ed4d2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3daae950674132" /><Relationship Type="http://schemas.openxmlformats.org/officeDocument/2006/relationships/notesSlide" Target="/ppt/notesSlides/notesSlide7.xml" Id="R029b9d4ce9f3499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a7832a96bc4dcf" /><Relationship Type="http://schemas.openxmlformats.org/officeDocument/2006/relationships/notesSlide" Target="/ppt/notesSlides/notesSlide8.xml" Id="R6b2d5fbfbea841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ed79265e224a2e" /><Relationship Type="http://schemas.openxmlformats.org/officeDocument/2006/relationships/notesSlide" Target="/ppt/notesSlides/notesSlide9.xml" Id="R8a910a29ff2b4ed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5d3b884c7f406e" /><Relationship Type="http://schemas.openxmlformats.org/officeDocument/2006/relationships/chart" Target="/ppt/slides/charts/chart2.xml" Id="R2ce241d8c9e64397" /><Relationship Type="http://schemas.openxmlformats.org/officeDocument/2006/relationships/notesSlide" Target="/ppt/notesSlides/notesSlide10.xml" Id="R26a5fcebc318412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1b6483ecf4008" /><Relationship Type="http://schemas.openxmlformats.org/officeDocument/2006/relationships/notesSlide" Target="/ppt/notesSlides/notesSlide11.xml" Id="Rbd69f50c470e4ae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4c0db27024465" /><Relationship Type="http://schemas.openxmlformats.org/officeDocument/2006/relationships/notesSlide" Target="/ppt/notesSlides/notesSlide12.xml" Id="R1679aeb868d14f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7e12ead664f2f" /><Relationship Type="http://schemas.openxmlformats.org/officeDocument/2006/relationships/notesSlide" Target="/ppt/notesSlides/notesSlide13.xml" Id="Rbf2a57c38d4843f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6147ec64764612" /><Relationship Type="http://schemas.openxmlformats.org/officeDocument/2006/relationships/notesSlide" Target="/ppt/notesSlides/notesSlide14.xml" Id="R4516171a999a44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f32e6288774034" /><Relationship Type="http://schemas.openxmlformats.org/officeDocument/2006/relationships/notesSlide" Target="/ppt/notesSlides/notesSlide15.xml" Id="R236d7089d62b445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加权总分</c:v>
          </c:tx>
          <c:spPr>
            <a:solidFill xmlns:a="http://schemas.openxmlformats.org/drawingml/2006/main">
              <a:srgbClr val="F47C48"/>
            </a:solidFill>
          </c:spPr>
          <c:cat>
            <c:strLit>
              <c:ptCount val="2"/>
              <c:pt idx="0">
                <c:v>贵州</c:v>
              </c:pt>
              <c:pt idx="1">
                <c:v>内蒙古</c:v>
              </c:pt>
            </c:strLit>
          </c:cat>
          <c:val>
            <c:numLit>
              <c:formatCode>General</c:formatCode>
              <c:ptCount val="2"/>
              <c:pt idx="0">
                <c:v>4.25</c:v>
              </c:pt>
              <c:pt idx="1">
                <c:v>3.57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2B21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DCCF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76D66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8DCC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211C"/>
                </a:solidFill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预算下限（万元）</c:v>
          </c:tx>
          <c:spPr>
            <a:solidFill xmlns:a="http://schemas.openxmlformats.org/drawingml/2006/main">
              <a:srgbClr val="F47C48"/>
            </a:solidFill>
          </c:spPr>
          <c:cat>
            <c:strLit>
              <c:ptCount val="6"/>
              <c:pt idx="0">
                <c:v>贵州经济</c:v>
              </c:pt>
              <c:pt idx="1">
                <c:v>贵州舒适</c:v>
              </c:pt>
              <c:pt idx="2">
                <c:v>贵州品质</c:v>
              </c:pt>
              <c:pt idx="3">
                <c:v>内蒙古经济</c:v>
              </c:pt>
              <c:pt idx="4">
                <c:v>内蒙古舒适</c:v>
              </c:pt>
              <c:pt idx="5">
                <c:v>内蒙古品质</c:v>
              </c:pt>
            </c:strLit>
          </c:cat>
          <c:val>
            <c:numLit>
              <c:formatCode>0.0</c:formatCode>
              <c:ptCount val="6"/>
              <c:pt idx="0">
                <c:v>0.99</c:v>
              </c:pt>
              <c:pt idx="1">
                <c:v>1.5</c:v>
              </c:pt>
              <c:pt idx="2">
                <c:v>2.45</c:v>
              </c:pt>
              <c:pt idx="3">
                <c:v>1.14</c:v>
              </c:pt>
              <c:pt idx="4">
                <c:v>1.75</c:v>
              </c:pt>
              <c:pt idx="5">
                <c:v>2.89</c:v>
              </c:pt>
            </c:numLit>
          </c:val>
        </c:ser>
        <c:ser>
          <c:idx val="1"/>
          <c:order val="1"/>
          <c:tx>
            <c:v>预算上限（万元）</c:v>
          </c:tx>
          <c:spPr>
            <a:solidFill xmlns:a="http://schemas.openxmlformats.org/drawingml/2006/main">
              <a:srgbClr val="3E6B8C"/>
            </a:solidFill>
          </c:spPr>
          <c:cat>
            <c:strLit>
              <c:ptCount val="6"/>
              <c:pt idx="0">
                <c:v>贵州经济</c:v>
              </c:pt>
              <c:pt idx="1">
                <c:v>贵州舒适</c:v>
              </c:pt>
              <c:pt idx="2">
                <c:v>贵州品质</c:v>
              </c:pt>
              <c:pt idx="3">
                <c:v>内蒙古经济</c:v>
              </c:pt>
              <c:pt idx="4">
                <c:v>内蒙古舒适</c:v>
              </c:pt>
              <c:pt idx="5">
                <c:v>内蒙古品质</c:v>
              </c:pt>
            </c:strLit>
          </c:cat>
          <c:val>
            <c:numLit>
              <c:formatCode>0.0</c:formatCode>
              <c:ptCount val="6"/>
              <c:pt idx="0">
                <c:v>1.79</c:v>
              </c:pt>
              <c:pt idx="1">
                <c:v>2.69</c:v>
              </c:pt>
              <c:pt idx="2">
                <c:v>4.52</c:v>
              </c:pt>
              <c:pt idx="3">
                <c:v>2.04</c:v>
              </c:pt>
              <c:pt idx="4">
                <c:v>3.21</c:v>
              </c:pt>
              <c:pt idx="5">
                <c:v>5.23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>
                  <a:solidFill>
                    <a:srgbClr val="2B211C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E8DCCF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2B211C"/>
                </a:solidFill>
              </a:defRPr>
            </a:pPr>
          </a:p>
        </c:txPr>
        <c:crossAx val="48672768"/>
        <c:lblAlgn val="ctr"/>
        <c:lblOffset val="100"/>
        <c:noMultiLvlLbl val="0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8DCCF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776D66"/>
                </a:solidFill>
              </a:defRPr>
            </a:pPr>
          </a:p>
        </c:txPr>
        <c:crossAx val="48650112"/>
        <c:crossBetween val="between"/>
        <c:majorUnit val="1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050">
              <a:solidFill>
                <a:srgbClr val="776D66"/>
              </a:solidFill>
            </a:defRPr>
          </a:pPr>
        </a:p>
      </c:txPr>
    </c:legend>
    <c:plotVisOnly val="1"/>
  </c:chart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cover-bg">
            <a:extLst xmlns:a="http://schemas.openxmlformats.org/drawingml/2006/main">
              <a:ext uri="{FF2B5EF4-FFF2-40B4-BE49-F238E27FC236}">
                <a16:creationId xmlns:a16="http://schemas.microsoft.com/office/drawing/2014/main" id="{61D8E4E8-76B0-4614-BB08-0AC046CDA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FF8F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1F0B4F-5EF6-4A1B-9AC6-DF3B918AB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10668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0">
            <a:solidFill>
              <a:srgbClr val="F47C48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4EDE616B-163C-4414-ABA9-B5CF83CF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5810250" cy="1733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2B211C"/>
                </a:solidFill>
              </a:defRPr>
            </a:pPr>
            <a:r>
              <a:rPr sz="3600" b="1">
                <a:solidFill>
                  <a:srgbClr val="2B211C"/>
                </a:solidFill>
              </a:rPr>
              <a:t>国庆自驾游</a:t>
            </a:r>
          </a:p>
          <a:p xmlns:a="http://schemas.openxmlformats.org/drawingml/2006/main">
            <a:pPr>
              <a:defRPr sz="3600" b="1">
                <a:solidFill>
                  <a:srgbClr val="2B211C"/>
                </a:solidFill>
              </a:defRPr>
            </a:pPr>
            <a:r>
              <a:rPr sz="3600" b="1">
                <a:solidFill>
                  <a:srgbClr val="2B211C"/>
                </a:solidFill>
              </a:rPr>
              <a:t>路线研究报告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B69898-41E2-4225-ABCF-E6559CE37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5334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76D66"/>
                </a:solidFill>
              </a:defRPr>
            </a:pPr>
            <a:r>
              <a:rPr sz="1575" b="1">
                <a:solidFill>
                  <a:srgbClr val="776D66"/>
                </a:solidFill>
              </a:rPr>
              <a:t>深圳出发 · 贵州 vs 内蒙古</a:t>
            </a:r>
          </a:p>
          <a:p xmlns:a="http://schemas.openxmlformats.org/drawingml/2006/main">
            <a:pPr>
              <a:defRPr sz="1575" b="1">
                <a:solidFill>
                  <a:srgbClr val="776D66"/>
                </a:solidFill>
              </a:defRPr>
            </a:pPr>
            <a:r>
              <a:rPr sz="1575" b="1">
                <a:solidFill>
                  <a:srgbClr val="776D66"/>
                </a:solidFill>
              </a:rPr>
              <a:t>2026.09.29 → 2026.10.05 / 06 · 两人 · 落地租车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171EAF-77A0-46DB-A917-270EF4B1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101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2B211C"/>
                </a:solidFill>
              </a:defRPr>
            </a:pPr>
            <a:r>
              <a:rPr sz="1350">
                <a:solidFill>
                  <a:srgbClr val="2B211C"/>
                </a:solidFill>
              </a:rPr>
              <a:t>研究结论先行：能 10 月 6 日回深，贵州更匹配；只能 10 月 5 日回，则需要接受更高强度的贵州方案或选择呼和浩特往返稳妥版。</a:t>
            </a:r>
          </a:p>
        </p:txBody>
      </p:sp>
      <p:sp>
        <p:nvSpPr>
          <p:cNvPr id="6" name="cover-route-surface">
            <a:extLst xmlns:a="http://schemas.openxmlformats.org/drawingml/2006/main">
              <a:ext uri="{FF2B5EF4-FFF2-40B4-BE49-F238E27FC236}">
                <a16:creationId xmlns:a16="http://schemas.microsoft.com/office/drawing/2014/main" id="{7605F2DD-87F2-4ADA-AF44-CF9B1E10C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95350"/>
            <a:ext cx="4000500" cy="476250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CE3D1"/>
          </a:solidFill>
          <a:ln xmlns:a="http://schemas.openxmlformats.org/drawingml/2006/main" w="9525">
            <a:solidFill>
              <a:srgbClr val="FCE3D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ED29CB-BCFA-4256-A32E-8C07ADA7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5730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7C48"/>
                </a:solidFill>
              </a:defRPr>
            </a:pPr>
            <a:r>
              <a:rPr sz="1350" b="1">
                <a:solidFill>
                  <a:srgbClr val="F47C48"/>
                </a:solidFill>
              </a:rPr>
              <a:t>两条研究主线</a:t>
            </a:r>
          </a:p>
        </p:txBody>
      </p:sp>
      <p:sp>
        <p:nvSpPr>
          <p:cNvPr id="8" name="route-node-1">
            <a:extLst xmlns:a="http://schemas.openxmlformats.org/drawingml/2006/main">
              <a:ext uri="{FF2B5EF4-FFF2-40B4-BE49-F238E27FC236}">
                <a16:creationId xmlns:a16="http://schemas.microsoft.com/office/drawing/2014/main" id="{23F4944A-B4DA-4908-9D84-67C261B48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515D9E-E9F4-4334-BF39-F3A1A50C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289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深圳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0DB5F8-5AFD-454A-B0D0-7F11B0D1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914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出发</a:t>
            </a:r>
          </a:p>
        </p:txBody>
      </p:sp>
      <p:sp>
        <p:nvSpPr>
          <p:cNvPr id="11" name="route-node-2">
            <a:extLst xmlns:a="http://schemas.openxmlformats.org/drawingml/2006/main">
              <a:ext uri="{FF2B5EF4-FFF2-40B4-BE49-F238E27FC236}">
                <a16:creationId xmlns:a16="http://schemas.microsoft.com/office/drawing/2014/main" id="{FA2C6588-8954-4A55-A4D8-5A3B08BF5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9DFE1F-5E4A-469D-8523-E815C8D5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贵阳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64594B-8979-4830-8388-AE5ABE67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14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入口</a:t>
            </a:r>
          </a:p>
        </p:txBody>
      </p:sp>
      <p:sp>
        <p:nvSpPr>
          <p:cNvPr id="14" name="route-node-3">
            <a:extLst xmlns:a="http://schemas.openxmlformats.org/drawingml/2006/main">
              <a:ext uri="{FF2B5EF4-FFF2-40B4-BE49-F238E27FC236}">
                <a16:creationId xmlns:a16="http://schemas.microsoft.com/office/drawing/2014/main" id="{FD8867BD-DD3D-44CF-A6E8-D8CE84F0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D0F8C5-ADBB-46F8-A99B-E37E3A083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289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黄果树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433FAF-DB58-4AD6-BDB3-C7350A73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914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瀑布</a:t>
            </a:r>
          </a:p>
        </p:txBody>
      </p:sp>
      <p:sp>
        <p:nvSpPr>
          <p:cNvPr id="17" name="route-node-4">
            <a:extLst xmlns:a="http://schemas.openxmlformats.org/drawingml/2006/main">
              <a:ext uri="{FF2B5EF4-FFF2-40B4-BE49-F238E27FC236}">
                <a16:creationId xmlns:a16="http://schemas.microsoft.com/office/drawing/2014/main" id="{5AD427F0-4DD3-44E0-AC8E-C9E4DEFC7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C2A310-5D0F-4AA7-B128-1757C38E7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289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兴义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A20BD6-D8EE-4FFF-9C9A-37CD7513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914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峰林</a:t>
            </a:r>
          </a:p>
        </p:txBody>
      </p:sp>
      <p:sp>
        <p:nvSpPr>
          <p:cNvPr id="20" name="route-node-5">
            <a:extLst xmlns:a="http://schemas.openxmlformats.org/drawingml/2006/main">
              <a:ext uri="{FF2B5EF4-FFF2-40B4-BE49-F238E27FC236}">
                <a16:creationId xmlns:a16="http://schemas.microsoft.com/office/drawing/2014/main" id="{C356C62F-3B31-4351-AE50-4383BCD32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E07A3-23B9-49F6-8C09-65A154A5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6289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织金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DF072F-F8F9-4788-A264-AF23B9E3E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914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溶洞</a:t>
            </a:r>
          </a:p>
        </p:txBody>
      </p:sp>
      <p:sp>
        <p:nvSpPr>
          <p:cNvPr id="23" name="route-node-6">
            <a:extLst xmlns:a="http://schemas.openxmlformats.org/drawingml/2006/main">
              <a:ext uri="{FF2B5EF4-FFF2-40B4-BE49-F238E27FC236}">
                <a16:creationId xmlns:a16="http://schemas.microsoft.com/office/drawing/2014/main" id="{9997EFB4-DD58-4D23-8596-271A740AE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22860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4DEDDE-6187-40CE-9EDE-961B9E117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6289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深圳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BA057A7-2B45-4806-97BA-EFBF7622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146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回程</a:t>
            </a:r>
          </a:p>
        </p:txBody>
      </p:sp>
      <p:cxnSp>
        <p:nvCxnSpPr>
          <p:cNvPr id="80" name=""/>
          <p:cNvCxnSpPr>
            <a:stCxn xmlns:a="http://schemas.openxmlformats.org/drawingml/2006/main" id="8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1181100" y="241935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7C48"/>
            </a:solidFill>
            <a:prstDash val="solid"/>
            <a:headEnd type="arrow" w="sm" len="sm"/>
          </a:ln>
        </p:spPr>
      </p:cxnSp>
      <p:cxnSp>
        <p:nvCxnSpPr>
          <p:cNvPr id="81" name=""/>
          <p:cNvCxnSpPr>
            <a:stCxn xmlns:a="http://schemas.openxmlformats.org/drawingml/2006/main" id="11" idx="6"/>
            <a:endCxn xmlns:a="http://schemas.openxmlformats.org/drawingml/2006/main" id="14" idx="2"/>
          </p:cNvCxnSpPr>
          <p:nvPr/>
        </p:nvCxnSpPr>
        <p:spPr>
          <a:xfrm xmlns:a="http://schemas.openxmlformats.org/drawingml/2006/main">
            <a:off x="3200400" y="241935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7C48"/>
            </a:solidFill>
            <a:prstDash val="solid"/>
            <a:headEnd type="arrow" w="sm" len="sm"/>
          </a:ln>
        </p:spPr>
      </p:cxnSp>
      <p:cxnSp>
        <p:nvCxnSpPr>
          <p:cNvPr id="82" name=""/>
          <p:cNvCxnSpPr>
            <a:stCxn xmlns:a="http://schemas.openxmlformats.org/drawingml/2006/main" id="14" idx="6"/>
            <a:endCxn xmlns:a="http://schemas.openxmlformats.org/drawingml/2006/main" id="17" idx="2"/>
          </p:cNvCxnSpPr>
          <p:nvPr/>
        </p:nvCxnSpPr>
        <p:spPr>
          <a:xfrm xmlns:a="http://schemas.openxmlformats.org/drawingml/2006/main">
            <a:off x="5219700" y="241935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7C48"/>
            </a:solidFill>
            <a:prstDash val="solid"/>
            <a:headEnd type="arrow" w="sm" len="sm"/>
          </a:ln>
        </p:spPr>
      </p:cxnSp>
      <p:cxnSp>
        <p:nvCxnSpPr>
          <p:cNvPr id="83" name=""/>
          <p:cNvCxnSpPr>
            <a:stCxn xmlns:a="http://schemas.openxmlformats.org/drawingml/2006/main" id="17" idx="6"/>
            <a:endCxn xmlns:a="http://schemas.openxmlformats.org/drawingml/2006/main" id="20" idx="2"/>
          </p:cNvCxnSpPr>
          <p:nvPr/>
        </p:nvCxnSpPr>
        <p:spPr>
          <a:xfrm xmlns:a="http://schemas.openxmlformats.org/drawingml/2006/main">
            <a:off x="7239000" y="241935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7C48"/>
            </a:solidFill>
            <a:prstDash val="solid"/>
            <a:headEnd type="arrow" w="sm" len="sm"/>
          </a:ln>
        </p:spPr>
      </p:cxnSp>
      <p:cxnSp>
        <p:nvCxnSpPr>
          <p:cNvPr id="84" name=""/>
          <p:cNvCxnSpPr>
            <a:stCxn xmlns:a="http://schemas.openxmlformats.org/drawingml/2006/main" id="20" idx="6"/>
            <a:endCxn xmlns:a="http://schemas.openxmlformats.org/drawingml/2006/main" id="23" idx="2"/>
          </p:cNvCxnSpPr>
          <p:nvPr/>
        </p:nvCxnSpPr>
        <p:spPr>
          <a:xfrm xmlns:a="http://schemas.openxmlformats.org/drawingml/2006/main">
            <a:off x="9258300" y="241935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7C48"/>
            </a:solidFill>
            <a:prstDash val="solid"/>
            <a:headEnd type="arrow" w="sm" len="sm"/>
          </a:ln>
        </p:spPr>
      </p:cxnSp>
      <p:sp>
        <p:nvSpPr>
          <p:cNvPr id="31" name="route-node-1">
            <a:extLst xmlns:a="http://schemas.openxmlformats.org/drawingml/2006/main">
              <a:ext uri="{FF2B5EF4-FFF2-40B4-BE49-F238E27FC236}">
                <a16:creationId xmlns:a16="http://schemas.microsoft.com/office/drawing/2014/main" id="{B6C15315-1B2B-43C2-8699-40F3CDAB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B8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AAEEEE-B5A1-4FE9-B11F-BE054458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14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深圳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4CE304-9CF2-40AE-AC30-900A1391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00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出发</a:t>
            </a:r>
          </a:p>
        </p:txBody>
      </p:sp>
      <p:sp>
        <p:nvSpPr>
          <p:cNvPr id="34" name="route-node-2">
            <a:extLst xmlns:a="http://schemas.openxmlformats.org/drawingml/2006/main">
              <a:ext uri="{FF2B5EF4-FFF2-40B4-BE49-F238E27FC236}">
                <a16:creationId xmlns:a16="http://schemas.microsoft.com/office/drawing/2014/main" id="{3B030613-B722-4775-A8CD-2388E1C9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171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B8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27EAD5-0E7A-49AA-9DB9-3E9728765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514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呼和浩特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6050481-96E8-4D6B-9F44-6EB821E24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00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入口</a:t>
            </a:r>
          </a:p>
        </p:txBody>
      </p:sp>
      <p:sp>
        <p:nvSpPr>
          <p:cNvPr id="37" name="route-node-3">
            <a:extLst xmlns:a="http://schemas.openxmlformats.org/drawingml/2006/main">
              <a:ext uri="{FF2B5EF4-FFF2-40B4-BE49-F238E27FC236}">
                <a16:creationId xmlns:a16="http://schemas.microsoft.com/office/drawing/2014/main" id="{3655DC50-8EE6-4741-BCA5-ABBE8B00F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171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B8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A3DE44-F642-4453-B3C5-31F88E64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514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草原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1FCF9B-316D-4B56-8961-2237E6756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800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高原秋色</a:t>
            </a:r>
          </a:p>
        </p:txBody>
      </p:sp>
      <p:sp>
        <p:nvSpPr>
          <p:cNvPr id="40" name="route-node-4">
            <a:extLst xmlns:a="http://schemas.openxmlformats.org/drawingml/2006/main">
              <a:ext uri="{FF2B5EF4-FFF2-40B4-BE49-F238E27FC236}">
                <a16:creationId xmlns:a16="http://schemas.microsoft.com/office/drawing/2014/main" id="{1EDB965B-1429-464F-B9DF-432F6873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171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B8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8CC52A-DBC4-4EEC-9417-A6858B97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514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响沙湾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E65160-6BD2-457F-8A83-E3CC2784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800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沙漠</a:t>
            </a:r>
          </a:p>
        </p:txBody>
      </p:sp>
      <p:sp>
        <p:nvSpPr>
          <p:cNvPr id="43" name="route-node-5">
            <a:extLst xmlns:a="http://schemas.openxmlformats.org/drawingml/2006/main">
              <a:ext uri="{FF2B5EF4-FFF2-40B4-BE49-F238E27FC236}">
                <a16:creationId xmlns:a16="http://schemas.microsoft.com/office/drawing/2014/main" id="{6D6AE15F-A76B-4F9D-87F4-A76AAC1DB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71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B8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A547E5-8A39-4A1D-8F10-97F15D30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514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鄂尔多斯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B1D095A-97DC-45A0-B16C-770A52230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800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康巴什</a:t>
            </a:r>
          </a:p>
        </p:txBody>
      </p:sp>
      <p:sp>
        <p:nvSpPr>
          <p:cNvPr id="46" name="route-node-6">
            <a:extLst xmlns:a="http://schemas.openxmlformats.org/drawingml/2006/main">
              <a:ext uri="{FF2B5EF4-FFF2-40B4-BE49-F238E27FC236}">
                <a16:creationId xmlns:a16="http://schemas.microsoft.com/office/drawing/2014/main" id="{F8688854-61AD-43D5-90B0-8BB8B0CA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4171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B8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F304B1-1785-4F62-A2FA-4073D7D21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45148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深圳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44514E-AC04-4725-BC30-C24DDDAD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8006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回程</a:t>
            </a:r>
          </a:p>
        </p:txBody>
      </p:sp>
      <p:cxnSp>
        <p:nvCxnSpPr>
          <p:cNvPr id="103" name=""/>
          <p:cNvCxnSpPr>
            <a:stCxn xmlns:a="http://schemas.openxmlformats.org/drawingml/2006/main" id="31" idx="6"/>
            <a:endCxn xmlns:a="http://schemas.openxmlformats.org/drawingml/2006/main" id="34" idx="2"/>
          </p:cNvCxnSpPr>
          <p:nvPr/>
        </p:nvCxnSpPr>
        <p:spPr>
          <a:xfrm xmlns:a="http://schemas.openxmlformats.org/drawingml/2006/main">
            <a:off x="1181100" y="43053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E6B8C"/>
            </a:solidFill>
            <a:prstDash val="solid"/>
            <a:headEnd type="arrow" w="sm" len="sm"/>
          </a:ln>
        </p:spPr>
      </p:cxnSp>
      <p:cxnSp>
        <p:nvCxnSpPr>
          <p:cNvPr id="104" name=""/>
          <p:cNvCxnSpPr>
            <a:stCxn xmlns:a="http://schemas.openxmlformats.org/drawingml/2006/main" id="34" idx="6"/>
            <a:endCxn xmlns:a="http://schemas.openxmlformats.org/drawingml/2006/main" id="37" idx="2"/>
          </p:cNvCxnSpPr>
          <p:nvPr/>
        </p:nvCxnSpPr>
        <p:spPr>
          <a:xfrm xmlns:a="http://schemas.openxmlformats.org/drawingml/2006/main">
            <a:off x="3200400" y="43053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E6B8C"/>
            </a:solidFill>
            <a:prstDash val="solid"/>
            <a:headEnd type="arrow" w="sm" len="sm"/>
          </a:ln>
        </p:spPr>
      </p:cxnSp>
      <p:cxnSp>
        <p:nvCxnSpPr>
          <p:cNvPr id="105" name=""/>
          <p:cNvCxnSpPr>
            <a:stCxn xmlns:a="http://schemas.openxmlformats.org/drawingml/2006/main" id="37" idx="6"/>
            <a:endCxn xmlns:a="http://schemas.openxmlformats.org/drawingml/2006/main" id="40" idx="2"/>
          </p:cNvCxnSpPr>
          <p:nvPr/>
        </p:nvCxnSpPr>
        <p:spPr>
          <a:xfrm xmlns:a="http://schemas.openxmlformats.org/drawingml/2006/main">
            <a:off x="5219700" y="43053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E6B8C"/>
            </a:solidFill>
            <a:prstDash val="solid"/>
            <a:headEnd type="arrow" w="sm" len="sm"/>
          </a:ln>
        </p:spPr>
      </p:cxnSp>
      <p:cxnSp>
        <p:nvCxnSpPr>
          <p:cNvPr id="106" name=""/>
          <p:cNvCxnSpPr>
            <a:stCxn xmlns:a="http://schemas.openxmlformats.org/drawingml/2006/main" id="40" idx="6"/>
            <a:endCxn xmlns:a="http://schemas.openxmlformats.org/drawingml/2006/main" id="43" idx="2"/>
          </p:cNvCxnSpPr>
          <p:nvPr/>
        </p:nvCxnSpPr>
        <p:spPr>
          <a:xfrm xmlns:a="http://schemas.openxmlformats.org/drawingml/2006/main">
            <a:off x="7239000" y="43053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E6B8C"/>
            </a:solidFill>
            <a:prstDash val="solid"/>
            <a:headEnd type="arrow" w="sm" len="sm"/>
          </a:ln>
        </p:spPr>
      </p:cxnSp>
      <p:cxnSp>
        <p:nvCxnSpPr>
          <p:cNvPr id="107" name=""/>
          <p:cNvCxnSpPr>
            <a:stCxn xmlns:a="http://schemas.openxmlformats.org/drawingml/2006/main" id="43" idx="6"/>
            <a:endCxn xmlns:a="http://schemas.openxmlformats.org/drawingml/2006/main" id="46" idx="2"/>
          </p:cNvCxnSpPr>
          <p:nvPr/>
        </p:nvCxnSpPr>
        <p:spPr>
          <a:xfrm xmlns:a="http://schemas.openxmlformats.org/drawingml/2006/main">
            <a:off x="9258300" y="43053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E6B8C"/>
            </a:solidFill>
            <a:prstDash val="solid"/>
            <a:headEnd type="arrow" w="sm" len="sm"/>
          </a:ln>
        </p:spPr>
      </p:cxn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48BD7C-9513-44CA-8E46-7174B337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5867400"/>
            <a:ext cx="319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76D66"/>
                </a:solidFill>
              </a:defRPr>
            </a:pPr>
            <a:r>
              <a:rPr sz="1050">
                <a:solidFill>
                  <a:srgbClr val="776D66"/>
                </a:solidFill>
              </a:rPr>
              <a:t>价格 = 公开样本 / 建模区间 / 待下单核价，三种状态严格区分。</a:t>
            </a:r>
          </a:p>
          <a:p xmlns:a="http://schemas.openxmlformats.org/drawingml/2006/main">
            <a:pPr>
              <a:defRPr sz="1050">
                <a:solidFill>
                  <a:srgbClr val="776D66"/>
                </a:solidFill>
              </a:defRPr>
            </a:pPr>
            <a:r>
              <a:rPr sz="1050">
                <a:solidFill>
                  <a:srgbClr val="776D66"/>
                </a:solidFill>
              </a:rPr>
              <a:t>评价 = 平台数字 + 体验关键词 + 可复核入口，不把不可读原文写成已核验。</a:t>
            </a:r>
          </a:p>
        </p:txBody>
      </p:sp>
    </p:spTree>
    <p:extLst>
      <p:ext uri="{BB962C8B-B14F-4D97-AF65-F5344CB8AC3E}">
        <p14:creationId xmlns:p14="http://schemas.microsoft.com/office/powerpoint/2010/main" val="18805179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D9CFA6-F871-4609-A062-FE00AE066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6D66"/>
                </a:solidFill>
              </a:defRPr>
            </a:pPr>
            <a:r>
              <a:rPr sz="900" b="1">
                <a:solidFill>
                  <a:srgbClr val="776D66"/>
                </a:solidFill>
              </a:rPr>
              <a:t>国庆自驾研究 · 2026-08-03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3DD7F-1F46-4248-9A08-1C4C6586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7C48"/>
                </a:solidFill>
              </a:defRPr>
            </a:pPr>
            <a:r>
              <a:rPr sz="1050" b="1">
                <a:solidFill>
                  <a:srgbClr val="F47C48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C10F4-E085-437B-B1A6-EE4678D6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F"/>
          </a:solidFill>
          <a:ln xmlns:a="http://schemas.openxmlformats.org/drawingml/2006/main" w="0">
            <a:solidFill>
              <a:srgbClr val="E8DCC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59D6865-A9A0-40C1-B8B0-E4E5E9F2A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C"/>
                </a:solidFill>
              </a:defRPr>
            </a:pPr>
            <a:r>
              <a:rPr sz="2550" b="1">
                <a:solidFill>
                  <a:srgbClr val="2B211C"/>
                </a:solidFill>
              </a:rPr>
              <a:t>先给结论：贵州是更稳的主方案，内蒙古是偏好驱动的备选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1DFF2-41CC-406F-A428-ADD7A031A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6D66"/>
                </a:solidFill>
              </a:defRPr>
            </a:pPr>
            <a:r>
              <a:rPr sz="1275">
                <a:solidFill>
                  <a:srgbClr val="776D66"/>
                </a:solidFill>
              </a:rPr>
              <a:t>评价维度：深圳出发效率、路线紧凑度、季节适配、预算可控、落地租车与国庆风险</a:t>
            </a:r>
          </a:p>
        </p:txBody>
      </p:sp>
      <p:sp>
        <p:nvSpPr>
          <p:cNvPr id="6" name="rec-guizhou">
            <a:extLst xmlns:a="http://schemas.openxmlformats.org/drawingml/2006/main">
              <a:ext uri="{FF2B5EF4-FFF2-40B4-BE49-F238E27FC236}">
                <a16:creationId xmlns:a16="http://schemas.microsoft.com/office/drawing/2014/main" id="{33EF45D5-0140-4F88-81DE-EFF376D3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000500" cy="34290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47C48"/>
          </a:solidFill>
          <a:ln xmlns:a="http://schemas.openxmlformats.org/drawingml/2006/main" w="9525">
            <a:solidFill>
              <a:srgbClr val="F47C4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BF4133-3977-4C9E-AC3C-CF6C06FE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71700"/>
            <a:ext cx="323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 · 贵州西南舒适环线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2154DB-A6BA-43F0-B2CA-26DBC19A1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24150"/>
            <a:ext cx="3143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7晚 / 9.29–10.06</a:t>
            </a:r>
          </a:p>
          <a:p xmlns:a="http://schemas.openxmlformats.org/drawingml/2006/main">
            <a:pPr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贵阳 → 黄果树 → 兴义 → 贞丰 → 六盘水 → 织金 → 贵阳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A8B98D-C15B-48F7-A1C6-1C985E508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适合：想玩得舒服、减少换酒店、看瀑布 + 峰林 + 溶洞。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预算：两人约 ¥1.50–2.69万（舒适档模型，含机动金）。</a:t>
            </a:r>
          </a:p>
        </p:txBody>
      </p:sp>
      <p:sp>
        <p:nvSpPr>
          <p:cNvPr id="10" name="rec-inner">
            <a:extLst xmlns:a="http://schemas.openxmlformats.org/drawingml/2006/main">
              <a:ext uri="{FF2B5EF4-FFF2-40B4-BE49-F238E27FC236}">
                <a16:creationId xmlns:a16="http://schemas.microsoft.com/office/drawing/2014/main" id="{C1AB1716-2001-4DDF-BD12-6AA0C4143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85950"/>
            <a:ext cx="30480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3E6B8C"/>
          </a:solidFill>
          <a:ln xmlns:a="http://schemas.openxmlformats.org/drawingml/2006/main" w="9525">
            <a:solidFill>
              <a:srgbClr val="3E6B8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CCDCE-AF9A-48AE-9255-296618149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17170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B · 内蒙古呼包鄂稳妥线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BDCC99-2E98-4198-AE6D-76BE4F54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72415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6晚 / 9.29–10.05</a:t>
            </a:r>
          </a:p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呼和浩特 → 草原 → 响沙湾 → 鄂尔多斯 → 呼和浩特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1E147A-3A10-4F5E-8F92-24C7767E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3905250"/>
            <a:ext cx="247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适合：明确想看草原、沙漠、辽阔公路感。</a:t>
            </a:r>
          </a:p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预算：两人约 ¥1.75–3.21万（舒适档模型，含机动金）。</a:t>
            </a:r>
          </a:p>
        </p:txBody>
      </p:sp>
      <p:sp>
        <p:nvSpPr>
          <p:cNvPr id="14" name="rec-rule">
            <a:extLst xmlns:a="http://schemas.openxmlformats.org/drawingml/2006/main">
              <a:ext uri="{FF2B5EF4-FFF2-40B4-BE49-F238E27FC236}">
                <a16:creationId xmlns:a16="http://schemas.microsoft.com/office/drawing/2014/main" id="{F61AAB89-D25E-4516-997B-51A5AEB2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885950"/>
            <a:ext cx="3048000" cy="3429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94DE9F-EC6D-49DC-A611-815E22CB2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71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B211C"/>
                </a:solidFill>
              </a:defRPr>
            </a:pPr>
            <a:r>
              <a:rPr sz="1800" b="1">
                <a:solidFill>
                  <a:srgbClr val="2B211C"/>
                </a:solidFill>
              </a:rPr>
              <a:t>怎么选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17D706-E6A4-4250-A3A2-8F9B3D9D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724150"/>
            <a:ext cx="2095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B211C"/>
                </a:solidFill>
              </a:defRPr>
            </a:pPr>
            <a:r>
              <a:rPr sz="1425" b="1">
                <a:solidFill>
                  <a:srgbClr val="2B211C"/>
                </a:solidFill>
              </a:rPr>
              <a:t>10/06 回深</a:t>
            </a:r>
          </a:p>
          <a:p xmlns:a="http://schemas.openxmlformats.org/drawingml/2006/main">
            <a:pPr>
              <a:defRPr sz="1425" b="1">
                <a:solidFill>
                  <a:srgbClr val="2B211C"/>
                </a:solidFill>
              </a:defRPr>
            </a:pPr>
            <a:r>
              <a:rPr sz="1425" b="1">
                <a:solidFill>
                  <a:srgbClr val="2B211C"/>
                </a:solidFill>
              </a:rPr>
              <a:t>→ 贵州舒适版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2B211C"/>
                </a:solidFill>
              </a:defRPr>
            </a:pPr>
            <a:r>
              <a:rPr sz="1425" b="1">
                <a:solidFill>
                  <a:srgbClr val="2B211C"/>
                </a:solidFill>
              </a:rPr>
              <a:t>10/05 回深</a:t>
            </a:r>
          </a:p>
          <a:p xmlns:a="http://schemas.openxmlformats.org/drawingml/2006/main">
            <a:pPr>
              <a:defRPr sz="1425" b="1">
                <a:solidFill>
                  <a:srgbClr val="2B211C"/>
                </a:solidFill>
              </a:defRPr>
            </a:pPr>
            <a:r>
              <a:rPr sz="1425" b="1">
                <a:solidFill>
                  <a:srgbClr val="2B211C"/>
                </a:solidFill>
              </a:rPr>
              <a:t>→ 贵州高强度版</a:t>
            </a:r>
          </a:p>
          <a:p xmlns:a="http://schemas.openxmlformats.org/drawingml/2006/main">
            <a:pPr>
              <a:defRPr sz="1425" b="1">
                <a:solidFill>
                  <a:srgbClr val="2B211C"/>
                </a:solidFill>
              </a:defRPr>
            </a:pPr>
            <a:r>
              <a:rPr sz="1425" b="1">
                <a:solidFill>
                  <a:srgbClr val="2B211C"/>
                </a:solidFill>
              </a:rPr>
              <a:t>   或内蒙古稳妥版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1">
                <a:solidFill>
                  <a:srgbClr val="2B211C"/>
                </a:solidFill>
              </a:defRPr>
            </a:pPr>
            <a:r>
              <a:rPr sz="1425" b="1">
                <a:solidFill>
                  <a:srgbClr val="2B211C"/>
                </a:solidFill>
              </a:rPr>
              <a:t>预算 &lt; ¥1.5万</a:t>
            </a:r>
          </a:p>
          <a:p xmlns:a="http://schemas.openxmlformats.org/drawingml/2006/main">
            <a:pPr>
              <a:defRPr sz="1425" b="1">
                <a:solidFill>
                  <a:srgbClr val="2B211C"/>
                </a:solidFill>
              </a:defRPr>
            </a:pPr>
            <a:r>
              <a:rPr sz="1425" b="1">
                <a:solidFill>
                  <a:srgbClr val="2B211C"/>
                </a:solidFill>
              </a:rPr>
              <a:t>→ 贵州优先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44929E-5ECA-4906-B04E-54240A3A7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5775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B95243"/>
                </a:solidFill>
              </a:defRPr>
            </a:pPr>
            <a:r>
              <a:rPr sz="1050" b="1">
                <a:solidFill>
                  <a:srgbClr val="B95243"/>
                </a:solidFill>
              </a:rPr>
              <a:t>额济纳不建议与草原、响沙湾、鄂尔多斯全部叠加；若胡杨是第一优先级，应另做专项。</a:t>
            </a:r>
          </a:p>
        </p:txBody>
      </p:sp>
    </p:spTree>
    <p:extLst>
      <p:ext uri="{BB962C8B-B14F-4D97-AF65-F5344CB8AC3E}">
        <p14:creationId xmlns:p14="http://schemas.microsoft.com/office/powerpoint/2010/main" val="6215330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935CDF-4208-4D1D-85B2-D3ACD0E7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6D66"/>
                </a:solidFill>
              </a:defRPr>
            </a:pPr>
            <a:r>
              <a:rPr sz="900" b="1">
                <a:solidFill>
                  <a:srgbClr val="776D66"/>
                </a:solidFill>
              </a:rPr>
              <a:t>国庆自驾研究 · 2026-08-03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21618-7111-4E92-8BF8-37583FD54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7C48"/>
                </a:solidFill>
              </a:defRPr>
            </a:pPr>
            <a:r>
              <a:rPr sz="1050" b="1">
                <a:solidFill>
                  <a:srgbClr val="F47C48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70C3DE-BFFA-49E1-AE8C-09B87246F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F"/>
          </a:solidFill>
          <a:ln xmlns:a="http://schemas.openxmlformats.org/drawingml/2006/main" w="0">
            <a:solidFill>
              <a:srgbClr val="E8DCC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D0FEDF6-2432-448C-A15A-5C00E1CEB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C"/>
                </a:solidFill>
              </a:defRPr>
            </a:pPr>
            <a:r>
              <a:rPr sz="2550" b="1">
                <a:solidFill>
                  <a:srgbClr val="2B211C"/>
                </a:solidFill>
              </a:rPr>
              <a:t>决策矩阵：贵州在 6–7 天窗口里更适合深圳出发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7DF7CC-3550-4455-A627-BFED6C1BA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6D66"/>
                </a:solidFill>
              </a:defRPr>
            </a:pPr>
            <a:r>
              <a:rPr sz="1275">
                <a:solidFill>
                  <a:srgbClr val="776D66"/>
                </a:solidFill>
              </a:rPr>
              <a:t>所有评分为研究组的相对决策评分，满分 5 分；权重和分值均可在 PPT 中直接修改</a:t>
            </a:r>
          </a:p>
        </p:txBody>
      </p:sp>
      <p:graphicFrame>
        <p:nvGraphicFramePr>
          <p:cNvPr id="14" name="Chart"/>
          <p:cNvGraphicFramePr/>
          <p:nvPr/>
        </p:nvGraphicFramePr>
        <p:xfrm>
          <a:off xmlns:a="http://schemas.openxmlformats.org/drawingml/2006/main" x="685800" y="1952625"/>
          <a:ext xmlns:a="http://schemas.openxmlformats.org/drawingml/2006/main" cx="4476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2cc9a5506140d0"/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5619750" y="1885950"/>
          <a:ext xmlns:a="http://schemas.openxmlformats.org/drawingml/2006/main" cx="5886450" cy="3543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471613"/>
                <a:gridCol w="1471613"/>
                <a:gridCol w="1471613"/>
                <a:gridCol w="1471613"/>
              </a:tblGrid>
              <a:tr h="442913">
                <a:tc>
                  <a:txBody>
                    <a:bodyPr/>
                    <a:lstStyle/>
                    <a:p>
                      <a:r>
                        <a:t>维度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权重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贵州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内蒙古</a:t>
                      </a:r>
                    </a:p>
                  </a:txBody>
                  <a:tcPr marL="91440" marR="91440" marT="45720" marB="45720"/>
                </a:tc>
              </a:tr>
              <a:tr h="442913">
                <a:tc>
                  <a:txBody>
                    <a:bodyPr/>
                    <a:lstStyle/>
                    <a:p>
                      <a:r>
                        <a:t>深圳出发效率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5.0</a:t>
                      </a:r>
                    </a:p>
                  </a:txBody>
                  <a:tcPr marL="91440" marR="91440" marT="45720" marB="45720">
                    <a:solidFill>
                      <a:srgbClr val="FCE3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3.5</a:t>
                      </a:r>
                    </a:p>
                  </a:txBody>
                  <a:tcPr marL="91440" marR="91440" marT="45720" marB="45720"/>
                </a:tc>
              </a:tr>
              <a:tr h="442913">
                <a:tc>
                  <a:txBody>
                    <a:bodyPr/>
                    <a:lstStyle/>
                    <a:p>
                      <a:r>
                        <a:t>路线紧凑度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4.5</a:t>
                      </a:r>
                    </a:p>
                  </a:txBody>
                  <a:tcPr marL="91440" marR="91440" marT="45720" marB="45720">
                    <a:solidFill>
                      <a:srgbClr val="FCE3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3.2</a:t>
                      </a:r>
                    </a:p>
                  </a:txBody>
                  <a:tcPr marL="91440" marR="91440" marT="45720" marB="45720"/>
                </a:tc>
              </a:tr>
              <a:tr h="442913">
                <a:tc>
                  <a:txBody>
                    <a:bodyPr/>
                    <a:lstStyle/>
                    <a:p>
                      <a:r>
                        <a:t>10月初适配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3.0</a:t>
                      </a:r>
                    </a:p>
                  </a:txBody>
                  <a:tcPr marL="91440" marR="91440" marT="45720" marB="45720"/>
                </a:tc>
              </a:tr>
              <a:tr h="442913">
                <a:tc>
                  <a:txBody>
                    <a:bodyPr/>
                    <a:lstStyle/>
                    <a:p>
                      <a:r>
                        <a:t>景观独特性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4.5</a:t>
                      </a:r>
                    </a:p>
                  </a:txBody>
                  <a:tcPr marL="91440" marR="91440" marT="45720" marB="45720"/>
                </a:tc>
              </a:tr>
              <a:tr h="442913">
                <a:tc>
                  <a:txBody>
                    <a:bodyPr/>
                    <a:lstStyle/>
                    <a:p>
                      <a:r>
                        <a:t>预算可控性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3.3</a:t>
                      </a:r>
                    </a:p>
                  </a:txBody>
                  <a:tcPr marL="91440" marR="91440" marT="45720" marB="45720"/>
                </a:tc>
              </a:tr>
              <a:tr h="442913">
                <a:tc>
                  <a:txBody>
                    <a:bodyPr/>
                    <a:lstStyle/>
                    <a:p>
                      <a:r>
                        <a:t>落地租车适配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10%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4.5</a:t>
                      </a:r>
                    </a:p>
                  </a:txBody>
                  <a:tcPr marL="91440" marR="91440" marT="45720" marB="45720">
                    <a:solidFill>
                      <a:srgbClr val="DCEAF3"/>
                    </a:solidFill>
                  </a:tcPr>
                </a:tc>
              </a:tr>
              <a:tr h="442913">
                <a:tc>
                  <a:txBody>
                    <a:bodyPr/>
                    <a:lstStyle/>
                    <a:p>
                      <a:r>
                        <a:t>国庆排队/拥堵风险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2.8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3.1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8DE3F4-2887-4576-9604-1B99B2600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47C48"/>
                </a:solidFill>
              </a:defRPr>
            </a:pPr>
            <a:r>
              <a:rPr sz="1350" b="1">
                <a:solidFill>
                  <a:srgbClr val="F47C48"/>
                </a:solidFill>
              </a:rPr>
              <a:t>结论不是“哪个省更好”，而是“哪个省更适合这段假期长度与出发地”。</a:t>
            </a:r>
          </a:p>
        </p:txBody>
      </p:sp>
    </p:spTree>
    <p:extLst>
      <p:ext uri="{BB962C8B-B14F-4D97-AF65-F5344CB8AC3E}">
        <p14:creationId xmlns:p14="http://schemas.microsoft.com/office/powerpoint/2010/main" val="18145066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D09F66F-5EF7-49B7-B410-45E3E6AD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6D66"/>
                </a:solidFill>
              </a:defRPr>
            </a:pPr>
            <a:r>
              <a:rPr sz="900" b="1">
                <a:solidFill>
                  <a:srgbClr val="776D66"/>
                </a:solidFill>
              </a:rPr>
              <a:t>国庆自驾研究 · 2026-08-03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40B80B-BF98-4D1A-9556-E5FEA922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7C48"/>
                </a:solidFill>
              </a:defRPr>
            </a:pPr>
            <a:r>
              <a:rPr sz="1050" b="1">
                <a:solidFill>
                  <a:srgbClr val="F47C48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37FEF-B538-4A57-8EDB-1560B9E6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F"/>
          </a:solidFill>
          <a:ln xmlns:a="http://schemas.openxmlformats.org/drawingml/2006/main" w="0">
            <a:solidFill>
              <a:srgbClr val="E8DCC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ACEA2C8-7702-4902-A170-3C89441CC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C"/>
                </a:solidFill>
              </a:defRPr>
            </a:pPr>
            <a:r>
              <a:rPr sz="2550" b="1">
                <a:solidFill>
                  <a:srgbClr val="2B211C"/>
                </a:solidFill>
              </a:rPr>
              <a:t>时间线：9/29 出发正好避开假期最早一波，但 10/1–7 仍要按峰值规划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A8B5A-6030-4C99-9D9B-72AD75F4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6D66"/>
                </a:solidFill>
              </a:defRPr>
            </a:pPr>
            <a:r>
              <a:rPr sz="1275">
                <a:solidFill>
                  <a:srgbClr val="776D66"/>
                </a:solidFill>
              </a:rPr>
              <a:t>把“出发日 / 高速免费 / 返程风险 / 订票节点”放在一条线上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640440-6F32-497A-865F-0346DF34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0"/>
            <a:ext cx="10048875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F"/>
          </a:solidFill>
          <a:ln xmlns:a="http://schemas.openxmlformats.org/drawingml/2006/main" w="0">
            <a:solidFill>
              <a:srgbClr val="E8DC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7C87E7-5501-4AE9-8D41-B34BCFD0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A4986-D35B-4B61-8B5F-24CD3AEA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C"/>
                </a:solidFill>
              </a:defRPr>
            </a:pPr>
            <a:r>
              <a:rPr sz="1200" b="1">
                <a:solidFill>
                  <a:srgbClr val="2B211C"/>
                </a:solidFill>
              </a:rPr>
              <a:t>9/15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04168-8126-44C8-8293-12AE4C82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105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高铁票最早开售参考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CC52F2-8BBC-4EE1-87E0-50260FA1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57187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提前锁票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0D95F1-B3E0-44FB-BEDA-6585CE64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28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64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867ED7-8F06-4CB8-845E-B921DC5B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133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C"/>
                </a:solidFill>
              </a:defRPr>
            </a:pPr>
            <a:r>
              <a:rPr sz="1200" b="1">
                <a:solidFill>
                  <a:srgbClr val="2B211C"/>
                </a:solidFill>
              </a:rPr>
              <a:t>9/29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C2CD8D-4BC8-4CD9-888C-92D01FFA3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105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出发 · 交通仍收费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2A3B40-1E21-4EF1-BB6E-F17A12A0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7187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取车 / 住贵阳或呼市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B91983-4484-4F03-B331-48B4A000C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28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64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A5C573-706F-4055-8ABD-DE895B93F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33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C"/>
                </a:solidFill>
              </a:defRPr>
            </a:pPr>
            <a:r>
              <a:rPr sz="1200" b="1">
                <a:solidFill>
                  <a:srgbClr val="2B211C"/>
                </a:solidFill>
              </a:rPr>
              <a:t>9/30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2F560-F48C-4F7A-A23F-DA12EBA4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05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节前晚高峰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695E61-766D-4A18-A803-104D97E4E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7187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避免傍晚跨城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474C9B-B545-4026-86E7-1587E41A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628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B6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0E2956-1CDF-406F-8914-CA59C6A3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33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C"/>
                </a:solidFill>
              </a:defRPr>
            </a:pPr>
            <a:r>
              <a:rPr sz="1200" b="1">
                <a:solidFill>
                  <a:srgbClr val="2B211C"/>
                </a:solidFill>
              </a:rPr>
              <a:t>10/1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928E07-CA07-4F38-B77A-FFEB3AC4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05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假期首日 · 高速免费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C8997D-97C4-4F02-81B2-C160F98C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57187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景区早入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507E9E-A5C2-4CC3-AE53-6CE5BB466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7727FF-2F26-4EDD-B635-ACF2A05B7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133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C"/>
                </a:solidFill>
              </a:defRPr>
            </a:pPr>
            <a:r>
              <a:rPr sz="1200" b="1">
                <a:solidFill>
                  <a:srgbClr val="2B211C"/>
                </a:solidFill>
              </a:rPr>
              <a:t>10/2–4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5105FB-73E3-4C5F-B6F6-2E2E4ACF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05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核心游玩窗口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809B1E-BFB3-41C7-B2C7-52D61B1C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57187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10–12 / 16–18 易拥堵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D8DA6F-ED40-4B39-BDB7-928B05D4C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628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96F243-26ED-4B81-84E1-2A50E2B53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33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C"/>
                </a:solidFill>
              </a:defRPr>
            </a:pPr>
            <a:r>
              <a:rPr sz="1200" b="1">
                <a:solidFill>
                  <a:srgbClr val="2B211C"/>
                </a:solidFill>
              </a:rPr>
              <a:t>10/5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EE9168-1C40-4A79-B30F-9AE23DFF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05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可选返深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0688FD1-3535-4D00-9589-BBDD06727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7187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必须压缩行程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BAA04C-784D-4332-8758-F83FED71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628900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E6276E4-B146-4323-96F3-C7B4EE9CB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133600"/>
            <a:ext cx="70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B211C"/>
                </a:solidFill>
              </a:defRPr>
            </a:pPr>
            <a:r>
              <a:rPr sz="1200" b="1">
                <a:solidFill>
                  <a:srgbClr val="2B211C"/>
                </a:solidFill>
              </a:rPr>
              <a:t>10/6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9255A1-A594-4A3A-AB7F-C14C7204F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105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更优返程日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5E7184-46B1-4383-B797-2FA27B49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7187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贵州舒适版</a:t>
            </a:r>
          </a:p>
        </p:txBody>
      </p:sp>
      <p:sp>
        <p:nvSpPr>
          <p:cNvPr id="35" name="traffic-green">
            <a:extLst xmlns:a="http://schemas.openxmlformats.org/drawingml/2006/main">
              <a:ext uri="{FF2B5EF4-FFF2-40B4-BE49-F238E27FC236}">
                <a16:creationId xmlns:a16="http://schemas.microsoft.com/office/drawing/2014/main" id="{B42BDB0F-779B-45B7-B734-C265FFE7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49530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DDE9DE"/>
          </a:solidFill>
          <a:ln xmlns:a="http://schemas.openxmlformats.org/drawingml/2006/main" w="9525">
            <a:solidFill>
              <a:srgbClr val="DDE9DE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CBCF6D2-3DA6-414B-B35A-F747ABB1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557B65"/>
                </a:solidFill>
              </a:defRPr>
            </a:pPr>
            <a:r>
              <a:rPr sz="1275" b="1">
                <a:solidFill>
                  <a:srgbClr val="557B65"/>
                </a:solidFill>
              </a:rPr>
              <a:t>可执行策略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AF1CD4D-7DC5-4F35-9D9A-BF46897FD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57800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B211C"/>
                </a:solidFill>
              </a:defRPr>
            </a:pPr>
            <a:r>
              <a:rPr sz="1125">
                <a:solidFill>
                  <a:srgbClr val="2B211C"/>
                </a:solidFill>
              </a:rPr>
              <a:t>景区 7:00–8:00 到；长途转场尽量放 9/29、10/3、10/4；每日驾驶预留 30%–50% 弹性。</a:t>
            </a:r>
          </a:p>
        </p:txBody>
      </p:sp>
      <p:sp>
        <p:nvSpPr>
          <p:cNvPr id="38" name="traffic-red">
            <a:extLst xmlns:a="http://schemas.openxmlformats.org/drawingml/2006/main">
              <a:ext uri="{FF2B5EF4-FFF2-40B4-BE49-F238E27FC236}">
                <a16:creationId xmlns:a16="http://schemas.microsoft.com/office/drawing/2014/main" id="{9E59ABFB-0F0C-42B3-B0D9-DD80D4421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762500"/>
            <a:ext cx="552450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E3D1"/>
          </a:solidFill>
          <a:ln xmlns:a="http://schemas.openxmlformats.org/drawingml/2006/main" w="9525">
            <a:solidFill>
              <a:srgbClr val="FCE3D1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E9FAD2-6B04-48E3-8F93-664A0E14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72050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B95243"/>
                </a:solidFill>
              </a:defRPr>
            </a:pPr>
            <a:r>
              <a:rPr sz="1275" b="1">
                <a:solidFill>
                  <a:srgbClr val="B95243"/>
                </a:solidFill>
              </a:rPr>
              <a:t>最容易踩坑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46E63C-5BB2-4DFA-B132-8ABACAD80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578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2B211C"/>
                </a:solidFill>
              </a:defRPr>
            </a:pPr>
            <a:r>
              <a:rPr sz="1125">
                <a:solidFill>
                  <a:srgbClr val="2B211C"/>
                </a:solidFill>
              </a:rPr>
              <a:t>把“高速免费”误读成“9/29 出发也免费”；把周中房价乘进国庆；把沙漠门票起价当成完整体验价。</a:t>
            </a:r>
          </a:p>
        </p:txBody>
      </p:sp>
    </p:spTree>
    <p:extLst>
      <p:ext uri="{BB962C8B-B14F-4D97-AF65-F5344CB8AC3E}">
        <p14:creationId xmlns:p14="http://schemas.microsoft.com/office/powerpoint/2010/main" val="148509924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24E358A-563D-4819-B629-99AF18EB1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6D66"/>
                </a:solidFill>
              </a:defRPr>
            </a:pPr>
            <a:r>
              <a:rPr sz="900" b="1">
                <a:solidFill>
                  <a:srgbClr val="776D66"/>
                </a:solidFill>
              </a:rPr>
              <a:t>国庆自驾研究 · 2026-08-03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DAF81-FF7B-4D51-B856-1A2C3F97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7C48"/>
                </a:solidFill>
              </a:defRPr>
            </a:pPr>
            <a:r>
              <a:rPr sz="1050" b="1">
                <a:solidFill>
                  <a:srgbClr val="F47C48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BCD767-4946-48E2-956D-51073D9F2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F"/>
          </a:solidFill>
          <a:ln xmlns:a="http://schemas.openxmlformats.org/drawingml/2006/main" w="0">
            <a:solidFill>
              <a:srgbClr val="E8DCC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E03548F-D0C9-4040-BB2E-6D3CFDAC1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C"/>
                </a:solidFill>
              </a:defRPr>
            </a:pPr>
            <a:r>
              <a:rPr sz="2550" b="1">
                <a:solidFill>
                  <a:srgbClr val="2B211C"/>
                </a:solidFill>
              </a:rPr>
              <a:t>方案 A｜贵州西南舒适环线：10/6 回深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A94C0-CFAC-4A51-B5ED-8308D8FE6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6D66"/>
                </a:solidFill>
              </a:defRPr>
            </a:pPr>
            <a:r>
              <a:rPr sz="1275">
                <a:solidFill>
                  <a:srgbClr val="776D66"/>
                </a:solidFill>
              </a:rPr>
              <a:t>不追求全省打卡；把瀑布、峰林、溶洞串成一条完成度高的环线</a:t>
            </a:r>
          </a:p>
        </p:txBody>
      </p:sp>
      <p:sp>
        <p:nvSpPr>
          <p:cNvPr id="6" name="route-node-1">
            <a:extLst xmlns:a="http://schemas.openxmlformats.org/drawingml/2006/main">
              <a:ext uri="{FF2B5EF4-FFF2-40B4-BE49-F238E27FC236}">
                <a16:creationId xmlns:a16="http://schemas.microsoft.com/office/drawing/2014/main" id="{AC07CF60-9342-4506-965C-F944D2E52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3B88D6-CAFE-4472-B448-96475D65F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贵阳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29EA09-3F11-495A-BFBC-4D393868F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取还车</a:t>
            </a:r>
          </a:p>
        </p:txBody>
      </p:sp>
      <p:sp>
        <p:nvSpPr>
          <p:cNvPr id="9" name="route-node-2">
            <a:extLst xmlns:a="http://schemas.openxmlformats.org/drawingml/2006/main">
              <a:ext uri="{FF2B5EF4-FFF2-40B4-BE49-F238E27FC236}">
                <a16:creationId xmlns:a16="http://schemas.microsoft.com/office/drawing/2014/main" id="{FBCC9BED-3285-4297-9061-C4E32775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15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DF9119-EEAD-4A8F-B8E6-203DB34F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995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黄果树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16E5EAE-8C47-481A-84B8-F5460317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375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瀑布</a:t>
            </a:r>
          </a:p>
        </p:txBody>
      </p:sp>
      <p:sp>
        <p:nvSpPr>
          <p:cNvPr id="12" name="route-node-3">
            <a:extLst xmlns:a="http://schemas.openxmlformats.org/drawingml/2006/main">
              <a:ext uri="{FF2B5EF4-FFF2-40B4-BE49-F238E27FC236}">
                <a16:creationId xmlns:a16="http://schemas.microsoft.com/office/drawing/2014/main" id="{F2AC2C30-A697-4A75-8520-17D0F2DD0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3FB927-37B3-4101-8E19-04266DC7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27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兴义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C5B019-5DEB-4A92-AB98-6E97E8E60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65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峰林峡谷</a:t>
            </a:r>
          </a:p>
        </p:txBody>
      </p:sp>
      <p:sp>
        <p:nvSpPr>
          <p:cNvPr id="15" name="route-node-4">
            <a:extLst xmlns:a="http://schemas.openxmlformats.org/drawingml/2006/main">
              <a:ext uri="{FF2B5EF4-FFF2-40B4-BE49-F238E27FC236}">
                <a16:creationId xmlns:a16="http://schemas.microsoft.com/office/drawing/2014/main" id="{1852A667-7734-4451-B539-0929B7BA1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A0FEA-E9A5-4178-9B0C-4E122DB0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贞丰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C4162-B8F6-4903-ADEB-65743BF6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双乳峰/休整</a:t>
            </a:r>
          </a:p>
        </p:txBody>
      </p:sp>
      <p:sp>
        <p:nvSpPr>
          <p:cNvPr id="18" name="route-node-5">
            <a:extLst xmlns:a="http://schemas.openxmlformats.org/drawingml/2006/main">
              <a:ext uri="{FF2B5EF4-FFF2-40B4-BE49-F238E27FC236}">
                <a16:creationId xmlns:a16="http://schemas.microsoft.com/office/drawing/2014/main" id="{95B8700C-00A4-4354-B168-99D5D4A9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54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B09A2-00A2-410C-82F3-5AD10B401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82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六盘水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237BFB-84C6-4A12-8131-764B4724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补给</a:t>
            </a:r>
          </a:p>
        </p:txBody>
      </p:sp>
      <p:sp>
        <p:nvSpPr>
          <p:cNvPr id="21" name="route-node-6">
            <a:extLst xmlns:a="http://schemas.openxmlformats.org/drawingml/2006/main">
              <a:ext uri="{FF2B5EF4-FFF2-40B4-BE49-F238E27FC236}">
                <a16:creationId xmlns:a16="http://schemas.microsoft.com/office/drawing/2014/main" id="{E233251B-AB1E-4489-A6EC-0B1691D7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15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34CD74-A4B1-4DB5-BE0D-34A109B73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095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织金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B8D5D0-AAEC-49AE-8B6E-B22D03FDF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475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溶洞</a:t>
            </a:r>
          </a:p>
        </p:txBody>
      </p:sp>
      <p:sp>
        <p:nvSpPr>
          <p:cNvPr id="24" name="route-node-7">
            <a:extLst xmlns:a="http://schemas.openxmlformats.org/drawingml/2006/main">
              <a:ext uri="{FF2B5EF4-FFF2-40B4-BE49-F238E27FC236}">
                <a16:creationId xmlns:a16="http://schemas.microsoft.com/office/drawing/2014/main" id="{D8CFFEF7-DEAF-4EB9-9D04-29FA80DFB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732EE3-B8E8-4AB0-88FB-C7784A87A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贵阳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0D1BD8-3721-42A6-96CC-CB963DF0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返深</a:t>
            </a:r>
          </a:p>
        </p:txBody>
      </p:sp>
      <p:cxnSp>
        <p:nvCxnSpPr>
          <p:cNvPr id="60" name=""/>
          <p:cNvCxnSpPr>
            <a:stCxn xmlns:a="http://schemas.openxmlformats.org/drawingml/2006/main" id="6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1181100" y="1943100"/>
            <a:ext cx="1416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7C48"/>
            </a:solidFill>
            <a:prstDash val="solid"/>
            <a:headEnd type="arrow" w="sm" len="sm"/>
          </a:ln>
        </p:spPr>
      </p:cxnSp>
      <p:cxnSp>
        <p:nvCxnSpPr>
          <p:cNvPr id="61" name=""/>
          <p:cNvCxnSpPr>
            <a:stCxn xmlns:a="http://schemas.openxmlformats.org/drawingml/2006/main" id="9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2863850" y="1943100"/>
            <a:ext cx="1416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7C48"/>
            </a:solidFill>
            <a:prstDash val="solid"/>
            <a:headEnd type="arrow" w="sm" len="sm"/>
          </a:ln>
        </p:spPr>
      </p:cxnSp>
      <p:cxnSp>
        <p:nvCxnSpPr>
          <p:cNvPr id="62" name=""/>
          <p:cNvCxnSpPr>
            <a:stCxn xmlns:a="http://schemas.openxmlformats.org/drawingml/2006/main" id="12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4546600" y="1943100"/>
            <a:ext cx="1416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7C48"/>
            </a:solidFill>
            <a:prstDash val="solid"/>
            <a:headEnd type="arrow" w="sm" len="sm"/>
          </a:ln>
        </p:spPr>
      </p:cxnSp>
      <p:cxnSp>
        <p:nvCxnSpPr>
          <p:cNvPr id="63" name=""/>
          <p:cNvCxnSpPr>
            <a:stCxn xmlns:a="http://schemas.openxmlformats.org/drawingml/2006/main" id="15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6229350" y="1943100"/>
            <a:ext cx="1416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7C48"/>
            </a:solidFill>
            <a:prstDash val="solid"/>
            <a:headEnd type="arrow" w="sm" len="sm"/>
          </a:ln>
        </p:spPr>
      </p:cxnSp>
      <p:cxnSp>
        <p:nvCxnSpPr>
          <p:cNvPr id="64" name=""/>
          <p:cNvCxnSpPr>
            <a:stCxn xmlns:a="http://schemas.openxmlformats.org/drawingml/2006/main" id="18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7912100" y="1943100"/>
            <a:ext cx="1416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7C48"/>
            </a:solidFill>
            <a:prstDash val="solid"/>
            <a:headEnd type="arrow" w="sm" len="sm"/>
          </a:ln>
        </p:spPr>
      </p:cxnSp>
      <p:cxnSp>
        <p:nvCxnSpPr>
          <p:cNvPr id="65" name=""/>
          <p:cNvCxnSpPr>
            <a:stCxn xmlns:a="http://schemas.openxmlformats.org/drawingml/2006/main" id="21" idx="6"/>
            <a:endCxn xmlns:a="http://schemas.openxmlformats.org/drawingml/2006/main" id="24" idx="2"/>
          </p:cNvCxnSpPr>
          <p:nvPr/>
        </p:nvCxnSpPr>
        <p:spPr>
          <a:xfrm xmlns:a="http://schemas.openxmlformats.org/drawingml/2006/main">
            <a:off x="9594850" y="1943100"/>
            <a:ext cx="14160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47C48"/>
            </a:solidFill>
            <a:prstDash val="solid"/>
            <a:headEnd type="arrow" w="sm" len="sm"/>
          </a:ln>
        </p:spPr>
      </p:cxnSp>
      <p:graphicFrame>
        <p:nvGraphicFramePr>
          <p:cNvPr id="66" name=""/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10820400" cy="29337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325967">
                <a:tc>
                  <a:txBody>
                    <a:bodyPr/>
                    <a:lstStyle/>
                    <a:p>
                      <a:r>
                        <a:t>日期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段落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当天重点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驾驶参考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住宿/状态</a:t>
                      </a:r>
                    </a:p>
                  </a:txBody>
                  <a:tcPr marL="91440" marR="91440" marT="45720" marB="45720"/>
                </a:tc>
              </a:tr>
              <a:tr h="325967">
                <a:tc>
                  <a:txBody>
                    <a:bodyPr/>
                    <a:lstStyle/>
                    <a:p>
                      <a:r>
                        <a:t>9/29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贵阳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取车/休息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0–30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贵阳</a:t>
                      </a:r>
                    </a:p>
                  </a:txBody>
                  <a:tcPr marL="91440" marR="91440" marT="45720" marB="45720"/>
                </a:tc>
              </a:tr>
              <a:tr h="325967">
                <a:tc>
                  <a:txBody>
                    <a:bodyPr/>
                    <a:lstStyle/>
                    <a:p>
                      <a:r>
                        <a:t>9/30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贵阳→黄果树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大瀑布/陡坡塘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黄果树</a:t>
                      </a:r>
                    </a:p>
                  </a:txBody>
                  <a:tcPr marL="91440" marR="91440" marT="45720" marB="45720"/>
                </a:tc>
              </a:tr>
              <a:tr h="325967">
                <a:tc>
                  <a:txBody>
                    <a:bodyPr/>
                    <a:lstStyle/>
                    <a:p>
                      <a:r>
                        <a:t>10/1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黄果树→兴义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晴隆/北盘江可选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兴义</a:t>
                      </a:r>
                    </a:p>
                  </a:txBody>
                  <a:tcPr marL="91440" marR="91440" marT="45720" marB="45720"/>
                </a:tc>
              </a:tr>
              <a:tr h="325967">
                <a:tc>
                  <a:txBody>
                    <a:bodyPr/>
                    <a:lstStyle/>
                    <a:p>
                      <a:r>
                        <a:t>10/2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兴义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万峰林/马岭河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市内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兴义</a:t>
                      </a:r>
                    </a:p>
                  </a:txBody>
                  <a:tcPr marL="91440" marR="91440" marT="45720" marB="45720"/>
                </a:tc>
              </a:tr>
              <a:tr h="325967">
                <a:tc>
                  <a:txBody>
                    <a:bodyPr/>
                    <a:lstStyle/>
                    <a:p>
                      <a:r>
                        <a:t>10/3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兴义→贞丰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双乳峰/北盘江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122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贞丰</a:t>
                      </a:r>
                    </a:p>
                  </a:txBody>
                  <a:tcPr marL="91440" marR="91440" marT="45720" marB="45720"/>
                </a:tc>
              </a:tr>
              <a:tr h="325967">
                <a:tc>
                  <a:txBody>
                    <a:bodyPr/>
                    <a:lstStyle/>
                    <a:p>
                      <a:r>
                        <a:t>10/4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贞丰→六盘水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转场/补给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293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六盘水</a:t>
                      </a:r>
                    </a:p>
                  </a:txBody>
                  <a:tcPr marL="91440" marR="91440" marT="45720" marB="45720"/>
                </a:tc>
              </a:tr>
              <a:tr h="325967">
                <a:tc>
                  <a:txBody>
                    <a:bodyPr/>
                    <a:lstStyle/>
                    <a:p>
                      <a:r>
                        <a:t>10/5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六盘水→织金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织金洞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155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织金</a:t>
                      </a:r>
                    </a:p>
                  </a:txBody>
                  <a:tcPr marL="91440" marR="91440" marT="45720" marB="45720"/>
                </a:tc>
              </a:tr>
              <a:tr h="325967">
                <a:tc>
                  <a:txBody>
                    <a:bodyPr/>
                    <a:lstStyle/>
                    <a:p>
                      <a:r>
                        <a:t>10/6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织金→贵阳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还车/返深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110–120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返深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088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963DDD7-421A-472E-8E6C-F69B2531D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6D66"/>
                </a:solidFill>
              </a:defRPr>
            </a:pPr>
            <a:r>
              <a:rPr sz="900" b="1">
                <a:solidFill>
                  <a:srgbClr val="776D66"/>
                </a:solidFill>
              </a:rPr>
              <a:t>国庆自驾研究 · 2026-08-03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22824-F934-4C82-9440-45DDD354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7C48"/>
                </a:solidFill>
              </a:defRPr>
            </a:pPr>
            <a:r>
              <a:rPr sz="1050" b="1">
                <a:solidFill>
                  <a:srgbClr val="F47C48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EA61AA-3558-4B42-9036-045890B6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F"/>
          </a:solidFill>
          <a:ln xmlns:a="http://schemas.openxmlformats.org/drawingml/2006/main" w="0">
            <a:solidFill>
              <a:srgbClr val="E8DCC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E0C5E04-452D-40E4-8DF6-9FFD9896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C"/>
                </a:solidFill>
              </a:defRPr>
            </a:pPr>
            <a:r>
              <a:rPr sz="2550" b="1">
                <a:solidFill>
                  <a:srgbClr val="2B211C"/>
                </a:solidFill>
              </a:rPr>
              <a:t>方案 B｜贵州高强度版：10/5 回深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6E63BB-9D66-41DF-8F07-B4B696DA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6D66"/>
                </a:solidFill>
              </a:defRPr>
            </a:pPr>
            <a:r>
              <a:rPr sz="1275">
                <a:solidFill>
                  <a:srgbClr val="776D66"/>
                </a:solidFill>
              </a:rPr>
              <a:t>一次看黄果树、万峰林、小七孔、西江；10/3–10/4 是压力测试</a:t>
            </a:r>
          </a:p>
        </p:txBody>
      </p:sp>
      <p:sp>
        <p:nvSpPr>
          <p:cNvPr id="6" name="route-node-1">
            <a:extLst xmlns:a="http://schemas.openxmlformats.org/drawingml/2006/main">
              <a:ext uri="{FF2B5EF4-FFF2-40B4-BE49-F238E27FC236}">
                <a16:creationId xmlns:a16="http://schemas.microsoft.com/office/drawing/2014/main" id="{90FA164F-40F1-4F7D-8F53-67DC90D6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64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038B74-009E-42B7-BEA5-DDF3CB80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贵阳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50801C-978C-425F-B0A5-CDE1FF51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取车</a:t>
            </a:r>
          </a:p>
        </p:txBody>
      </p:sp>
      <p:sp>
        <p:nvSpPr>
          <p:cNvPr id="9" name="route-node-2">
            <a:extLst xmlns:a="http://schemas.openxmlformats.org/drawingml/2006/main">
              <a:ext uri="{FF2B5EF4-FFF2-40B4-BE49-F238E27FC236}">
                <a16:creationId xmlns:a16="http://schemas.microsoft.com/office/drawing/2014/main" id="{C62AA874-7C0E-4E66-AFFA-873CD71EF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64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7C782-891D-4364-A1B3-078DD385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黄果树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22521-E893-45D2-A39F-83DFE1AB5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瀑布</a:t>
            </a:r>
          </a:p>
        </p:txBody>
      </p:sp>
      <p:sp>
        <p:nvSpPr>
          <p:cNvPr id="12" name="route-node-3">
            <a:extLst xmlns:a="http://schemas.openxmlformats.org/drawingml/2006/main">
              <a:ext uri="{FF2B5EF4-FFF2-40B4-BE49-F238E27FC236}">
                <a16:creationId xmlns:a16="http://schemas.microsoft.com/office/drawing/2014/main" id="{77396EF6-DEB0-4C84-95B8-3911776FB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64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6D71E-B148-422E-A3C8-28222577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兴义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1673D5-9E2A-4A8D-9346-AFFAE644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峰林</a:t>
            </a:r>
          </a:p>
        </p:txBody>
      </p:sp>
      <p:sp>
        <p:nvSpPr>
          <p:cNvPr id="15" name="route-node-4">
            <a:extLst xmlns:a="http://schemas.openxmlformats.org/drawingml/2006/main">
              <a:ext uri="{FF2B5EF4-FFF2-40B4-BE49-F238E27FC236}">
                <a16:creationId xmlns:a16="http://schemas.microsoft.com/office/drawing/2014/main" id="{6AEC6177-09BA-47EE-887B-9815AC71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64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2868EF-1915-4CB3-8CC3-4040EE283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荔波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82BC7-A4CD-4E0F-99F1-449C66C8D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小七孔</a:t>
            </a:r>
          </a:p>
        </p:txBody>
      </p:sp>
      <p:sp>
        <p:nvSpPr>
          <p:cNvPr id="18" name="route-node-5">
            <a:extLst xmlns:a="http://schemas.openxmlformats.org/drawingml/2006/main">
              <a:ext uri="{FF2B5EF4-FFF2-40B4-BE49-F238E27FC236}">
                <a16:creationId xmlns:a16="http://schemas.microsoft.com/office/drawing/2014/main" id="{9F16D783-2F72-4285-93ED-26C284D8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64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D4473F-74A3-430F-8F5B-D06A0100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西江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0E254F-FE3E-4677-8504-E7A1B4FDA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苗寨</a:t>
            </a:r>
          </a:p>
        </p:txBody>
      </p:sp>
      <p:sp>
        <p:nvSpPr>
          <p:cNvPr id="21" name="route-node-6">
            <a:extLst xmlns:a="http://schemas.openxmlformats.org/drawingml/2006/main">
              <a:ext uri="{FF2B5EF4-FFF2-40B4-BE49-F238E27FC236}">
                <a16:creationId xmlns:a16="http://schemas.microsoft.com/office/drawing/2014/main" id="{88411ADF-FD67-415A-8966-5006E635C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A64A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A9CB9E-5A19-4793-BB48-4191A79DD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贵阳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4E8518-76C7-4429-AE8C-035862EB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还车返深</a:t>
            </a:r>
          </a:p>
        </p:txBody>
      </p:sp>
      <p:cxnSp>
        <p:nvCxnSpPr>
          <p:cNvPr id="53" name=""/>
          <p:cNvCxnSpPr>
            <a:stCxn xmlns:a="http://schemas.openxmlformats.org/drawingml/2006/main" id="6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1181100" y="19431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3A64A"/>
            </a:solidFill>
            <a:prstDash val="solid"/>
            <a:headEnd type="arrow" w="sm" len="sm"/>
          </a:ln>
        </p:spPr>
      </p:cxnSp>
      <p:cxnSp>
        <p:nvCxnSpPr>
          <p:cNvPr id="54" name=""/>
          <p:cNvCxnSpPr>
            <a:stCxn xmlns:a="http://schemas.openxmlformats.org/drawingml/2006/main" id="9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3200400" y="19431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3A64A"/>
            </a:solidFill>
            <a:prstDash val="solid"/>
            <a:headEnd type="arrow" w="sm" len="sm"/>
          </a:ln>
        </p:spPr>
      </p:cxnSp>
      <p:cxnSp>
        <p:nvCxnSpPr>
          <p:cNvPr id="55" name=""/>
          <p:cNvCxnSpPr>
            <a:stCxn xmlns:a="http://schemas.openxmlformats.org/drawingml/2006/main" id="12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5219700" y="19431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3A64A"/>
            </a:solidFill>
            <a:prstDash val="solid"/>
            <a:headEnd type="arrow" w="sm" len="sm"/>
          </a:ln>
        </p:spPr>
      </p:cxnSp>
      <p:cxnSp>
        <p:nvCxnSpPr>
          <p:cNvPr id="56" name=""/>
          <p:cNvCxnSpPr>
            <a:stCxn xmlns:a="http://schemas.openxmlformats.org/drawingml/2006/main" id="15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7239000" y="19431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3A64A"/>
            </a:solidFill>
            <a:prstDash val="solid"/>
            <a:headEnd type="arrow" w="sm" len="sm"/>
          </a:ln>
        </p:spPr>
      </p:cxnSp>
      <p:cxnSp>
        <p:nvCxnSpPr>
          <p:cNvPr id="57" name=""/>
          <p:cNvCxnSpPr>
            <a:stCxn xmlns:a="http://schemas.openxmlformats.org/drawingml/2006/main" id="18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9258300" y="19431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3A64A"/>
            </a:solidFill>
            <a:prstDash val="solid"/>
            <a:headEnd type="arrow" w="sm" len="sm"/>
          </a:ln>
        </p:spPr>
      </p:cxnSp>
      <p:graphicFrame>
        <p:nvGraphicFramePr>
          <p:cNvPr id="58" name=""/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10820400" cy="2686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335756">
                <a:tc>
                  <a:txBody>
                    <a:bodyPr/>
                    <a:lstStyle/>
                    <a:p>
                      <a:r>
                        <a:t>日期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住宿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重点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驾驶参考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9/29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贵阳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落地取车、休息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0–30 km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9/30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黄果树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大瀑布主线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约128 km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10/1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兴义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黄果树→兴义，下午轻活动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约205 km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10/2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兴义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万峰林 + 马岭河峡谷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市内短途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10/3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荔波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兴义→荔波，纯转场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约472 km / 7–8.5h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10/4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西江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早入小七孔 → 西江夜景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约270–330 km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10/5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返深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西江短游→贵阳→还车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约210–216 km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120327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90A21E-DA4C-4204-A73E-A3FBE3C9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6D66"/>
                </a:solidFill>
              </a:defRPr>
            </a:pPr>
            <a:r>
              <a:rPr sz="900" b="1">
                <a:solidFill>
                  <a:srgbClr val="776D66"/>
                </a:solidFill>
              </a:rPr>
              <a:t>国庆自驾研究 · 2026-08-03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DF3D4-7445-492D-9644-03517D16A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7C48"/>
                </a:solidFill>
              </a:defRPr>
            </a:pPr>
            <a:r>
              <a:rPr sz="1050" b="1">
                <a:solidFill>
                  <a:srgbClr val="F47C48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C44D72-5F68-4150-87D5-6884C256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F"/>
          </a:solidFill>
          <a:ln xmlns:a="http://schemas.openxmlformats.org/drawingml/2006/main" w="0">
            <a:solidFill>
              <a:srgbClr val="E8DCC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9A081F-1CC3-47E4-8042-11A7CD9F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C"/>
                </a:solidFill>
              </a:defRPr>
            </a:pPr>
            <a:r>
              <a:rPr sz="2550" b="1">
                <a:solidFill>
                  <a:srgbClr val="2B211C"/>
                </a:solidFill>
              </a:rPr>
              <a:t>方案 C｜内蒙古呼包鄂稳妥线：往返呼和浩特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8550DD-6A1D-4104-B018-B4DDF6D5F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6D66"/>
                </a:solidFill>
              </a:defRPr>
            </a:pPr>
            <a:r>
              <a:rPr sz="1275">
                <a:solidFill>
                  <a:srgbClr val="776D66"/>
                </a:solidFill>
              </a:rPr>
              <a:t>第一次去内蒙古；不做跨省异地还车，把草原、沙漠和城市休整放进可回撤路线</a:t>
            </a:r>
          </a:p>
        </p:txBody>
      </p:sp>
      <p:sp>
        <p:nvSpPr>
          <p:cNvPr id="6" name="route-node-1">
            <a:extLst xmlns:a="http://schemas.openxmlformats.org/drawingml/2006/main">
              <a:ext uri="{FF2B5EF4-FFF2-40B4-BE49-F238E27FC236}">
                <a16:creationId xmlns:a16="http://schemas.microsoft.com/office/drawing/2014/main" id="{3AB4EBFB-DF3F-4913-B5B0-B5DBA261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B8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5800C1-844E-4C9C-91E6-7481810BA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呼和浩特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D14B38-DF54-4A7C-8E54-7C89E0A5D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取车</a:t>
            </a:r>
          </a:p>
        </p:txBody>
      </p:sp>
      <p:sp>
        <p:nvSpPr>
          <p:cNvPr id="9" name="route-node-2">
            <a:extLst xmlns:a="http://schemas.openxmlformats.org/drawingml/2006/main">
              <a:ext uri="{FF2B5EF4-FFF2-40B4-BE49-F238E27FC236}">
                <a16:creationId xmlns:a16="http://schemas.microsoft.com/office/drawing/2014/main" id="{08EA052B-A544-4231-BAF1-1864498BC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B8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7735B8-C580-48C5-9B08-E5AEB6CA6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辉腾锡勒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EFF86-FDF8-4AEE-823A-1E2A153D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草原</a:t>
            </a:r>
          </a:p>
        </p:txBody>
      </p:sp>
      <p:sp>
        <p:nvSpPr>
          <p:cNvPr id="12" name="route-node-3">
            <a:extLst xmlns:a="http://schemas.openxmlformats.org/drawingml/2006/main">
              <a:ext uri="{FF2B5EF4-FFF2-40B4-BE49-F238E27FC236}">
                <a16:creationId xmlns:a16="http://schemas.microsoft.com/office/drawing/2014/main" id="{43BF8046-822F-415E-AE2F-ED9ABDF9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B8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7FEFC8-7D79-4CC1-8914-95D46E2BE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响沙湾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884968-B410-4FE4-9E3C-FE989881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沙漠</a:t>
            </a:r>
          </a:p>
        </p:txBody>
      </p:sp>
      <p:sp>
        <p:nvSpPr>
          <p:cNvPr id="15" name="route-node-4">
            <a:extLst xmlns:a="http://schemas.openxmlformats.org/drawingml/2006/main">
              <a:ext uri="{FF2B5EF4-FFF2-40B4-BE49-F238E27FC236}">
                <a16:creationId xmlns:a16="http://schemas.microsoft.com/office/drawing/2014/main" id="{B4C5F39E-9467-4F20-89C9-EA93EB7CD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B8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C11A15-B737-4295-9770-3B1B5DDBD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鄂尔多斯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2AD2C-E50D-4FB1-A90D-CD18C0D6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康巴什/博物馆</a:t>
            </a:r>
          </a:p>
        </p:txBody>
      </p:sp>
      <p:sp>
        <p:nvSpPr>
          <p:cNvPr id="18" name="route-node-5">
            <a:extLst xmlns:a="http://schemas.openxmlformats.org/drawingml/2006/main">
              <a:ext uri="{FF2B5EF4-FFF2-40B4-BE49-F238E27FC236}">
                <a16:creationId xmlns:a16="http://schemas.microsoft.com/office/drawing/2014/main" id="{19D3E11D-A63B-4DD2-BD7A-79D03826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E6B8C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B4F754-984A-4D75-882A-9F104B23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呼和浩特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EABAB2-C5E0-4B62-8A38-278F4F4AF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还车返深</a:t>
            </a:r>
          </a:p>
        </p:txBody>
      </p:sp>
      <p:cxnSp>
        <p:nvCxnSpPr>
          <p:cNvPr id="46" name=""/>
          <p:cNvCxnSpPr>
            <a:stCxn xmlns:a="http://schemas.openxmlformats.org/drawingml/2006/main" id="6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1181100" y="1943100"/>
            <a:ext cx="22574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E6B8C"/>
            </a:solidFill>
            <a:prstDash val="solid"/>
            <a:headEnd type="arrow" w="sm" len="sm"/>
          </a:ln>
        </p:spPr>
      </p:cxnSp>
      <p:cxnSp>
        <p:nvCxnSpPr>
          <p:cNvPr id="47" name=""/>
          <p:cNvCxnSpPr>
            <a:stCxn xmlns:a="http://schemas.openxmlformats.org/drawingml/2006/main" id="9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3705225" y="1943100"/>
            <a:ext cx="22574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E6B8C"/>
            </a:solidFill>
            <a:prstDash val="solid"/>
            <a:headEnd type="arrow" w="sm" len="sm"/>
          </a:ln>
        </p:spPr>
      </p:cxnSp>
      <p:cxnSp>
        <p:nvCxnSpPr>
          <p:cNvPr id="48" name=""/>
          <p:cNvCxnSpPr>
            <a:stCxn xmlns:a="http://schemas.openxmlformats.org/drawingml/2006/main" id="12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6229350" y="1943100"/>
            <a:ext cx="22574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E6B8C"/>
            </a:solidFill>
            <a:prstDash val="solid"/>
            <a:headEnd type="arrow" w="sm" len="sm"/>
          </a:ln>
        </p:spPr>
      </p:cxnSp>
      <p:cxnSp>
        <p:nvCxnSpPr>
          <p:cNvPr id="49" name=""/>
          <p:cNvCxnSpPr>
            <a:stCxn xmlns:a="http://schemas.openxmlformats.org/drawingml/2006/main" id="15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8753475" y="1943100"/>
            <a:ext cx="2257425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3E6B8C"/>
            </a:solidFill>
            <a:prstDash val="solid"/>
            <a:headEnd type="arrow" w="sm" len="sm"/>
          </a:ln>
        </p:spPr>
      </p:cxnSp>
      <p:graphicFrame>
        <p:nvGraphicFramePr>
          <p:cNvPr id="50" name=""/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10820400" cy="2686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335756">
                <a:tc>
                  <a:txBody>
                    <a:bodyPr/>
                    <a:lstStyle/>
                    <a:p>
                      <a:r>
                        <a:t>日期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住宿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重点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驾驶参考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9/29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呼和浩特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取车/大召老城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市内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9/30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草原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辉腾锡勒/黄花沟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10/1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响沙湾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草原→沙漠，早出发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220–270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10/2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响沙湾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全天沙漠；不驶入非铺装区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低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10/3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鄂尔多斯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康巴什/博物馆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50–80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10/4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呼和浩特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东胜→呼市，留缓冲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230–275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10/5/6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返深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白塔还车；优先直飞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低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660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990F6F-BCF9-4882-96BF-58264F79B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6D66"/>
                </a:solidFill>
              </a:defRPr>
            </a:pPr>
            <a:r>
              <a:rPr sz="900" b="1">
                <a:solidFill>
                  <a:srgbClr val="776D66"/>
                </a:solidFill>
              </a:rPr>
              <a:t>国庆自驾研究 · 2026-08-03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9F3698-5B76-4B6C-B562-4132EC1B1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7C48"/>
                </a:solidFill>
              </a:defRPr>
            </a:pPr>
            <a:r>
              <a:rPr sz="1050" b="1">
                <a:solidFill>
                  <a:srgbClr val="F47C48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2F81B3-DAF6-491E-9EAE-E880BB3AF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F"/>
          </a:solidFill>
          <a:ln xmlns:a="http://schemas.openxmlformats.org/drawingml/2006/main" w="0">
            <a:solidFill>
              <a:srgbClr val="E8DCC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A4228D4-7ACF-4F0C-B2E5-13317BAC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C"/>
                </a:solidFill>
              </a:defRPr>
            </a:pPr>
            <a:r>
              <a:rPr sz="2550" b="1">
                <a:solidFill>
                  <a:srgbClr val="2B211C"/>
                </a:solidFill>
              </a:rPr>
              <a:t>方案 D｜内蒙古草原 + 沙漠 + 阿拉善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C54E48-3051-4338-8FC0-DBA91555C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6D66"/>
                </a:solidFill>
              </a:defRPr>
            </a:pPr>
            <a:r>
              <a:rPr sz="1275">
                <a:solidFill>
                  <a:srgbClr val="776D66"/>
                </a:solidFill>
              </a:rPr>
              <a:t>呼和浩特进、银川出；异地还车未锁定前不成立</a:t>
            </a:r>
          </a:p>
        </p:txBody>
      </p:sp>
      <p:sp>
        <p:nvSpPr>
          <p:cNvPr id="6" name="route-node-1">
            <a:extLst xmlns:a="http://schemas.openxmlformats.org/drawingml/2006/main">
              <a:ext uri="{FF2B5EF4-FFF2-40B4-BE49-F238E27FC236}">
                <a16:creationId xmlns:a16="http://schemas.microsoft.com/office/drawing/2014/main" id="{C6500C00-A225-468B-9301-E39232F20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B6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7A060B-18F5-4520-9C0D-8BAF4587F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呼和浩特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6F6173-748E-4482-B16F-9A0D4848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取车</a:t>
            </a:r>
          </a:p>
        </p:txBody>
      </p:sp>
      <p:sp>
        <p:nvSpPr>
          <p:cNvPr id="9" name="route-node-2">
            <a:extLst xmlns:a="http://schemas.openxmlformats.org/drawingml/2006/main">
              <a:ext uri="{FF2B5EF4-FFF2-40B4-BE49-F238E27FC236}">
                <a16:creationId xmlns:a16="http://schemas.microsoft.com/office/drawing/2014/main" id="{565F7144-8A4A-40A1-9E75-77006D27A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B6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32C475-14B6-46F1-A21B-7A32A007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草原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8910B-B93B-4E92-854C-51326BB2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秋草</a:t>
            </a:r>
          </a:p>
        </p:txBody>
      </p:sp>
      <p:sp>
        <p:nvSpPr>
          <p:cNvPr id="12" name="route-node-3">
            <a:extLst xmlns:a="http://schemas.openxmlformats.org/drawingml/2006/main">
              <a:ext uri="{FF2B5EF4-FFF2-40B4-BE49-F238E27FC236}">
                <a16:creationId xmlns:a16="http://schemas.microsoft.com/office/drawing/2014/main" id="{05FAB4E0-9590-46F7-8042-ADC04C9FB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B6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1C259D-58A8-4C54-80DB-715E8BD22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响沙湾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C8DFF2-CE7E-4659-840D-E668D572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沙漠</a:t>
            </a:r>
          </a:p>
        </p:txBody>
      </p:sp>
      <p:sp>
        <p:nvSpPr>
          <p:cNvPr id="15" name="route-node-4">
            <a:extLst xmlns:a="http://schemas.openxmlformats.org/drawingml/2006/main">
              <a:ext uri="{FF2B5EF4-FFF2-40B4-BE49-F238E27FC236}">
                <a16:creationId xmlns:a16="http://schemas.microsoft.com/office/drawing/2014/main" id="{A8A69001-DDBA-4287-8CEF-226FCDCB6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B6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8C1BA7-C468-4EDD-B907-BA6EEC012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鄂尔多斯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DE39C1-695E-42DF-898D-B2FEAD5F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城市休整</a:t>
            </a:r>
          </a:p>
        </p:txBody>
      </p:sp>
      <p:sp>
        <p:nvSpPr>
          <p:cNvPr id="18" name="route-node-5">
            <a:extLst xmlns:a="http://schemas.openxmlformats.org/drawingml/2006/main">
              <a:ext uri="{FF2B5EF4-FFF2-40B4-BE49-F238E27FC236}">
                <a16:creationId xmlns:a16="http://schemas.microsoft.com/office/drawing/2014/main" id="{F0946BA8-DA69-4D95-8DF3-D73ECDF2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B6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72AD81-5358-4BEE-B5F8-E65DBB3AF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阿拉善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4E5671-CC15-4317-BC62-4A81998F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腾格里</a:t>
            </a:r>
          </a:p>
        </p:txBody>
      </p:sp>
      <p:sp>
        <p:nvSpPr>
          <p:cNvPr id="21" name="route-node-6">
            <a:extLst xmlns:a="http://schemas.openxmlformats.org/drawingml/2006/main">
              <a:ext uri="{FF2B5EF4-FFF2-40B4-BE49-F238E27FC236}">
                <a16:creationId xmlns:a16="http://schemas.microsoft.com/office/drawing/2014/main" id="{A02CA907-27B8-4C61-B411-1E60AEE8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1809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B65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DE00FF-BBD7-44AE-9152-2DE5AD8E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215265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B211C"/>
                </a:solidFill>
              </a:defRPr>
            </a:pPr>
            <a:r>
              <a:rPr sz="1125" b="1">
                <a:solidFill>
                  <a:srgbClr val="2B211C"/>
                </a:solidFill>
              </a:rPr>
              <a:t>银川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43E6A-237F-461E-9575-C7946F33C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4384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776D66"/>
                </a:solidFill>
              </a:defRPr>
            </a:pPr>
            <a:r>
              <a:rPr sz="975">
                <a:solidFill>
                  <a:srgbClr val="776D66"/>
                </a:solidFill>
              </a:rPr>
              <a:t>还车返深</a:t>
            </a:r>
          </a:p>
        </p:txBody>
      </p:sp>
      <p:cxnSp>
        <p:nvCxnSpPr>
          <p:cNvPr id="53" name=""/>
          <p:cNvCxnSpPr>
            <a:stCxn xmlns:a="http://schemas.openxmlformats.org/drawingml/2006/main" id="6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1181100" y="19431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57B65"/>
            </a:solidFill>
            <a:prstDash val="solid"/>
            <a:headEnd type="arrow" w="sm" len="sm"/>
          </a:ln>
        </p:spPr>
      </p:cxnSp>
      <p:cxnSp>
        <p:nvCxnSpPr>
          <p:cNvPr id="54" name=""/>
          <p:cNvCxnSpPr>
            <a:stCxn xmlns:a="http://schemas.openxmlformats.org/drawingml/2006/main" id="9" idx="6"/>
            <a:endCxn xmlns:a="http://schemas.openxmlformats.org/drawingml/2006/main" id="12" idx="2"/>
          </p:cNvCxnSpPr>
          <p:nvPr/>
        </p:nvCxnSpPr>
        <p:spPr>
          <a:xfrm xmlns:a="http://schemas.openxmlformats.org/drawingml/2006/main">
            <a:off x="3200400" y="19431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57B65"/>
            </a:solidFill>
            <a:prstDash val="solid"/>
            <a:headEnd type="arrow" w="sm" len="sm"/>
          </a:ln>
        </p:spPr>
      </p:cxnSp>
      <p:cxnSp>
        <p:nvCxnSpPr>
          <p:cNvPr id="55" name=""/>
          <p:cNvCxnSpPr>
            <a:stCxn xmlns:a="http://schemas.openxmlformats.org/drawingml/2006/main" id="12" idx="6"/>
            <a:endCxn xmlns:a="http://schemas.openxmlformats.org/drawingml/2006/main" id="15" idx="2"/>
          </p:cNvCxnSpPr>
          <p:nvPr/>
        </p:nvCxnSpPr>
        <p:spPr>
          <a:xfrm xmlns:a="http://schemas.openxmlformats.org/drawingml/2006/main">
            <a:off x="5219700" y="19431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57B65"/>
            </a:solidFill>
            <a:prstDash val="solid"/>
            <a:headEnd type="arrow" w="sm" len="sm"/>
          </a:ln>
        </p:spPr>
      </p:cxnSp>
      <p:cxnSp>
        <p:nvCxnSpPr>
          <p:cNvPr id="56" name=""/>
          <p:cNvCxnSpPr>
            <a:stCxn xmlns:a="http://schemas.openxmlformats.org/drawingml/2006/main" id="15" idx="6"/>
            <a:endCxn xmlns:a="http://schemas.openxmlformats.org/drawingml/2006/main" id="18" idx="2"/>
          </p:cNvCxnSpPr>
          <p:nvPr/>
        </p:nvCxnSpPr>
        <p:spPr>
          <a:xfrm xmlns:a="http://schemas.openxmlformats.org/drawingml/2006/main">
            <a:off x="7239000" y="19431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57B65"/>
            </a:solidFill>
            <a:prstDash val="solid"/>
            <a:headEnd type="arrow" w="sm" len="sm"/>
          </a:ln>
        </p:spPr>
      </p:cxnSp>
      <p:cxnSp>
        <p:nvCxnSpPr>
          <p:cNvPr id="57" name=""/>
          <p:cNvCxnSpPr>
            <a:stCxn xmlns:a="http://schemas.openxmlformats.org/drawingml/2006/main" id="18" idx="6"/>
            <a:endCxn xmlns:a="http://schemas.openxmlformats.org/drawingml/2006/main" id="21" idx="2"/>
          </p:cNvCxnSpPr>
          <p:nvPr/>
        </p:nvCxnSpPr>
        <p:spPr>
          <a:xfrm xmlns:a="http://schemas.openxmlformats.org/drawingml/2006/main">
            <a:off x="9258300" y="1943100"/>
            <a:ext cx="17526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557B65"/>
            </a:solidFill>
            <a:prstDash val="solid"/>
            <a:headEnd type="arrow" w="sm" len="sm"/>
          </a:ln>
        </p:spPr>
      </p:cxnSp>
      <p:graphicFrame>
        <p:nvGraphicFramePr>
          <p:cNvPr id="58" name=""/>
          <p:cNvGraphicFramePr/>
          <p:nvPr/>
        </p:nvGraphicFramePr>
        <p:xfrm>
          <a:off xmlns:a="http://schemas.openxmlformats.org/drawingml/2006/main" x="685800" y="2857500"/>
          <a:ext xmlns:a="http://schemas.openxmlformats.org/drawingml/2006/main" cx="10820400" cy="26860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705100"/>
                <a:gridCol w="2705100"/>
                <a:gridCol w="2705100"/>
                <a:gridCol w="2705100"/>
              </a:tblGrid>
              <a:tr h="335756">
                <a:tc>
                  <a:txBody>
                    <a:bodyPr/>
                    <a:lstStyle/>
                    <a:p>
                      <a:r>
                        <a:t>日期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住宿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重点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驾驶参考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9/29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呼和浩特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机场取车，市区休息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低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9/30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草原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辉腾锡勒/黄花沟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中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10/1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响沙湾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草原→响沙湾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约270 km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10/2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响沙湾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完整玩沙漠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低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10/3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鄂尔多斯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康巴什 / 博物馆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低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10/4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阿拉善左旗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鄂尔多斯→阿拉善，最长的一天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约350–380 km</a:t>
                      </a:r>
                    </a:p>
                  </a:txBody>
                  <a:tcPr marL="91440" marR="91440" marT="45720" marB="45720"/>
                </a:tc>
              </a:tr>
              <a:tr h="335756">
                <a:tc>
                  <a:txBody>
                    <a:bodyPr/>
                    <a:lstStyle/>
                    <a:p>
                      <a:r>
                        <a:t>10/5/6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银川返程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阿拉善→银川机场，异地还车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约120 km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32058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660163-3F29-4903-BF95-81DBC28C6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6D66"/>
                </a:solidFill>
              </a:defRPr>
            </a:pPr>
            <a:r>
              <a:rPr sz="900" b="1">
                <a:solidFill>
                  <a:srgbClr val="776D66"/>
                </a:solidFill>
              </a:rPr>
              <a:t>国庆自驾研究 · 2026-08-03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C64953-C6B0-4DEF-AE05-4616930E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7C48"/>
                </a:solidFill>
              </a:defRPr>
            </a:pPr>
            <a:r>
              <a:rPr sz="1050" b="1">
                <a:solidFill>
                  <a:srgbClr val="F47C48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73355D-195C-4F24-872F-07E37530A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F"/>
          </a:solidFill>
          <a:ln xmlns:a="http://schemas.openxmlformats.org/drawingml/2006/main" w="0">
            <a:solidFill>
              <a:srgbClr val="E8DCC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C3BD6DC-886F-471E-8E0C-BEDBC4734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C"/>
                </a:solidFill>
              </a:defRPr>
            </a:pPr>
            <a:r>
              <a:rPr sz="2550" b="1">
                <a:solidFill>
                  <a:srgbClr val="2B211C"/>
                </a:solidFill>
              </a:rPr>
              <a:t>交通与租车报价：先锁“确定性”，再追求最低价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C05F55-6A02-408D-BDD0-E63E7AE26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6D66"/>
                </a:solidFill>
              </a:defRPr>
            </a:pPr>
            <a:r>
              <a:rPr sz="1275">
                <a:solidFill>
                  <a:srgbClr val="776D66"/>
                </a:solidFill>
              </a:rPr>
              <a:t>当前查询日 2026-08-03；目标日期动态报价尚未全部开放或未能取得完整结算页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2781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3400"/>
                <a:gridCol w="1803400"/>
                <a:gridCol w="1803400"/>
                <a:gridCol w="1803400"/>
                <a:gridCol w="1803400"/>
                <a:gridCol w="1803400"/>
              </a:tblGrid>
              <a:tr h="397329">
                <a:tc>
                  <a:txBody>
                    <a:bodyPr/>
                    <a:lstStyle/>
                    <a:p>
                      <a:r>
                        <a:t>区域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方式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组合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价格参考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决策备注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来源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/>
                    <a:lstStyle/>
                    <a:p>
                      <a:r>
                        <a:t>贵州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高铁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深圳北—贵阳北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¥480.5–515.5/人/程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公开样本；关注预售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S01;S02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/>
                    <a:lstStyle/>
                    <a:p>
                      <a:r>
                        <a:t>贵州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飞机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深圳—贵阳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¥1,200–3,000/人往返模型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附近日 ¥610–1,080/程；待核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S03;S04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/>
                    <a:lstStyle/>
                    <a:p>
                      <a:r>
                        <a:t>贵州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租车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龙洞堡 SUV 6/7天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¥1,500–3,500 模型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保障、油、停车另计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S07;S08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/>
                    <a:lstStyle/>
                    <a:p>
                      <a:r>
                        <a:t>内蒙古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飞机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深圳—呼和浩特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¥2,100–3,250/人往返模型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直飞优先；返程选择多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S05;S06;S22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/>
                    <a:lstStyle/>
                    <a:p>
                      <a:r>
                        <a:t>内蒙古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租车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白塔 SUV 6/7天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¥1,500–2,800 模型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呼包鄂线不异地还车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S09</a:t>
                      </a:r>
                    </a:p>
                  </a:txBody>
                  <a:tcPr marL="91440" marR="91440" marT="45720" marB="45720"/>
                </a:tc>
              </a:tr>
              <a:tr h="397329">
                <a:tc>
                  <a:txBody>
                    <a:bodyPr/>
                    <a:lstStyle/>
                    <a:p>
                      <a:r>
                        <a:t>内蒙古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飞机+租车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呼和浩特进 / 银川出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至少加异地还车费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未拿到订单前不纳入预算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S09;S20;S21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C4C8B1-E9A9-4B45-B9B0-0B80F2F18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10820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47C48"/>
                </a:solidFill>
              </a:defRPr>
            </a:pPr>
            <a:r>
              <a:rPr sz="900">
                <a:solidFill>
                  <a:srgbClr val="F47C48"/>
                </a:solidFill>
              </a:rPr>
              <a:t>预算公式：往返票价×2 + 租车日租×天数 + 保障/油费/停车等；模型区间在出发前 30–45 天重核。</a:t>
            </a:r>
          </a:p>
        </p:txBody>
      </p:sp>
    </p:spTree>
    <p:extLst>
      <p:ext uri="{BB962C8B-B14F-4D97-AF65-F5344CB8AC3E}">
        <p14:creationId xmlns:p14="http://schemas.microsoft.com/office/powerpoint/2010/main" val="8731273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A6BD9F-46EE-4B4D-9C01-CED4A64BE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6D66"/>
                </a:solidFill>
              </a:defRPr>
            </a:pPr>
            <a:r>
              <a:rPr sz="900" b="1">
                <a:solidFill>
                  <a:srgbClr val="776D66"/>
                </a:solidFill>
              </a:rPr>
              <a:t>国庆自驾研究 · 2026-08-03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FA816-44FE-4CD1-AF99-62B1E82CF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7C48"/>
                </a:solidFill>
              </a:defRPr>
            </a:pPr>
            <a:r>
              <a:rPr sz="1050" b="1">
                <a:solidFill>
                  <a:srgbClr val="F47C48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9FEAFB-8417-4852-A713-DB2EE908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F"/>
          </a:solidFill>
          <a:ln xmlns:a="http://schemas.openxmlformats.org/drawingml/2006/main" w="0">
            <a:solidFill>
              <a:srgbClr val="E8DCC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1D7609C-D7EB-4B22-BE09-CAF07A70B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C"/>
                </a:solidFill>
              </a:defRPr>
            </a:pPr>
            <a:r>
              <a:rPr sz="2550" b="1">
                <a:solidFill>
                  <a:srgbClr val="2B211C"/>
                </a:solidFill>
              </a:rPr>
              <a:t>两人总预算：贵州更容易把舒适档控制在 ¥2 万上下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34561B-7409-43D1-9FE6-A8C82DA1E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6D66"/>
                </a:solidFill>
              </a:defRPr>
            </a:pPr>
            <a:r>
              <a:rPr sz="1275">
                <a:solidFill>
                  <a:srgbClr val="776D66"/>
                </a:solidFill>
              </a:rPr>
              <a:t>含 10%–15% 国庆机动金；不含购物与不可预见的大额项目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685800" y="1905000"/>
          <a:ext xmlns:a="http://schemas.openxmlformats.org/drawingml/2006/main" cx="647700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e241d8c9e64397"/>
          </a:graphicData>
        </a:graphic>
      </p:graphicFrame>
      <p:graphicFrame>
        <p:nvGraphicFramePr>
          <p:cNvPr id="16" name=""/>
          <p:cNvGraphicFramePr/>
          <p:nvPr/>
        </p:nvGraphicFramePr>
        <p:xfrm>
          <a:off xmlns:a="http://schemas.openxmlformats.org/drawingml/2006/main" x="7620000" y="2095500"/>
          <a:ext xmlns:a="http://schemas.openxmlformats.org/drawingml/2006/main" cx="3886200" cy="1809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971550"/>
                <a:gridCol w="971550"/>
                <a:gridCol w="971550"/>
                <a:gridCol w="971550"/>
              </a:tblGrid>
              <a:tr h="452438">
                <a:tc>
                  <a:txBody>
                    <a:bodyPr/>
                    <a:lstStyle/>
                    <a:p>
                      <a:r>
                        <a:t>档位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贵州 6晚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内蒙古 6晚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适合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t>经济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¥0.99–1.79万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¥1.14–2.04万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省预算 / 普通住宿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t>舒适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¥1.50–2.69万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¥1.75–3.21万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两人首选</a:t>
                      </a:r>
                    </a:p>
                  </a:txBody>
                  <a:tcPr marL="91440" marR="91440" marT="45720" marB="45720"/>
                </a:tc>
              </a:tr>
              <a:tr h="452438">
                <a:tc>
                  <a:txBody>
                    <a:bodyPr/>
                    <a:lstStyle/>
                    <a:p>
                      <a:r>
                        <a:t>品质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¥2.45–4.52万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¥2.89–5.23万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景区房 / 高弹性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1F12E8-D7F9-4D04-9A2A-F08513719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810250"/>
            <a:ext cx="3886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76D66"/>
                </a:solidFill>
              </a:defRPr>
            </a:pPr>
            <a:r>
              <a:rPr sz="900">
                <a:solidFill>
                  <a:srgbClr val="776D66"/>
                </a:solidFill>
              </a:rPr>
              <a:t>预算敏感项：国庆住宿、低价舱位、异地还车、沙漠二次消费、保险/停车/超公里。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C7B6EF-B769-410A-AA41-4DD4E4E58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685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776D66"/>
                </a:solidFill>
              </a:defRPr>
            </a:pPr>
            <a:r>
              <a:rPr sz="1050">
                <a:solidFill>
                  <a:srgbClr val="776D66"/>
                </a:solidFill>
              </a:rPr>
              <a:t>预算页按 6 晚统一口径；10/6 贵州舒适环线为 7 晚，需另加 1 晚住宿、餐饮和停车。</a:t>
            </a:r>
          </a:p>
        </p:txBody>
      </p:sp>
    </p:spTree>
    <p:extLst>
      <p:ext uri="{BB962C8B-B14F-4D97-AF65-F5344CB8AC3E}">
        <p14:creationId xmlns:p14="http://schemas.microsoft.com/office/powerpoint/2010/main" val="15796727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F05C0A-0155-4C41-AA5B-1064F94D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6D66"/>
                </a:solidFill>
              </a:defRPr>
            </a:pPr>
            <a:r>
              <a:rPr sz="900" b="1">
                <a:solidFill>
                  <a:srgbClr val="776D66"/>
                </a:solidFill>
              </a:rPr>
              <a:t>国庆自驾研究 · 2026-08-03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522D5-A433-4A81-AE90-1604B2EB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7C48"/>
                </a:solidFill>
              </a:defRPr>
            </a:pPr>
            <a:r>
              <a:rPr sz="1050" b="1">
                <a:solidFill>
                  <a:srgbClr val="F47C48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C6CFA-6704-434D-B8E9-DFB99031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F"/>
          </a:solidFill>
          <a:ln xmlns:a="http://schemas.openxmlformats.org/drawingml/2006/main" w="0">
            <a:solidFill>
              <a:srgbClr val="E8DCC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6392EF-2259-437F-9D60-AF7A32A2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C"/>
                </a:solidFill>
              </a:defRPr>
            </a:pPr>
            <a:r>
              <a:rPr sz="2550" b="1">
                <a:solidFill>
                  <a:srgbClr val="2B211C"/>
                </a:solidFill>
              </a:rPr>
              <a:t>贵州吃住咖啡：把“评价数字”和“真实体验入口”分开看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4EB6FE-7C23-4000-826F-DBFB14738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6D66"/>
                </a:solidFill>
              </a:defRPr>
            </a:pPr>
            <a:r>
              <a:rPr sz="1275">
                <a:solidFill>
                  <a:srgbClr val="776D66"/>
                </a:solidFill>
              </a:rPr>
              <a:t>大众点评/携程用于结构化评分与人均；小红书用于场景关键词和新鲜体验，原文需登录后复核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9621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514350">
                <a:tc>
                  <a:txBody>
                    <a:bodyPr/>
                    <a:lstStyle/>
                    <a:p>
                      <a:r>
                        <a:t>城市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住宿建议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餐饮 / 苍蝇小馆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咖啡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证据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贵阳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观山湖/机场周边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老凯俚酸汤鱼 ¥79–87；罗记肠旺面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咖啡地图；优先商场停车店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S29;S31;S44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安顺/黄果树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半山 9.5/10、6,522条、停车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黔人百味 4.9/5、¥46；程汤圆 ¥9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独立证据弱；用酒店/商圈替代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S27;S32;S33;S38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兴义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捌舍 4.9/5、261条、景观/停车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酸笋牛肉 / 酸汤鱼；看近期菜单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民宿/万峰林周边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S25;S26;S30;S39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荔波/西江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小七孔东门 / 西江外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酸汤牛肉、酸汤鱼；景区慎价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酒店/营地优先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S28;S40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181E07-8AB8-45E0-988A-CC715519D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F47C48"/>
                </a:solidFill>
              </a:defRPr>
            </a:pPr>
            <a:r>
              <a:rPr sz="900">
                <a:solidFill>
                  <a:srgbClr val="F47C48"/>
                </a:solidFill>
              </a:rPr>
              <a:t>下单前：大众点评看近 30–90 天图文差评；小红书筛近期/非广告/有菜单或停车实拍；国庆前 3–7 天电话确认营业。</a:t>
            </a:r>
          </a:p>
        </p:txBody>
      </p:sp>
    </p:spTree>
    <p:extLst>
      <p:ext uri="{BB962C8B-B14F-4D97-AF65-F5344CB8AC3E}">
        <p14:creationId xmlns:p14="http://schemas.microsoft.com/office/powerpoint/2010/main" val="16634399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E83D3-6CDA-4060-BCB2-AFDE1400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6D66"/>
                </a:solidFill>
              </a:defRPr>
            </a:pPr>
            <a:r>
              <a:rPr sz="900" b="1">
                <a:solidFill>
                  <a:srgbClr val="776D66"/>
                </a:solidFill>
              </a:rPr>
              <a:t>国庆自驾研究 · 2026-08-03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B21400-828F-4960-B597-B4B940F7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7C48"/>
                </a:solidFill>
              </a:defRPr>
            </a:pPr>
            <a:r>
              <a:rPr sz="1050" b="1">
                <a:solidFill>
                  <a:srgbClr val="F47C48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91406A-BA0B-4147-9591-D9161C716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F"/>
          </a:solidFill>
          <a:ln xmlns:a="http://schemas.openxmlformats.org/drawingml/2006/main" w="0">
            <a:solidFill>
              <a:srgbClr val="E8DCC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527001-7A6A-4CBA-8B7E-13D673E9A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C"/>
                </a:solidFill>
              </a:defRPr>
            </a:pPr>
            <a:r>
              <a:rPr sz="2550" b="1">
                <a:solidFill>
                  <a:srgbClr val="2B211C"/>
                </a:solidFill>
              </a:rPr>
              <a:t>内蒙古吃住咖啡：优先城市基地，苍蝇小馆与独立咖啡证据更弱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87B57-249A-4D8E-80C4-C4C89FFE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6D66"/>
                </a:solidFill>
              </a:defRPr>
            </a:pPr>
            <a:r>
              <a:rPr sz="1275">
                <a:solidFill>
                  <a:srgbClr val="776D66"/>
                </a:solidFill>
              </a:rPr>
              <a:t>呼和浩特/包头/东胜住得稳，草原和沙漠做日游；景区内住宿需提前锁定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962150"/>
          <a:ext xmlns:a="http://schemas.openxmlformats.org/drawingml/2006/main" cx="108204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514350">
                <a:tc>
                  <a:txBody>
                    <a:bodyPr/>
                    <a:lstStyle/>
                    <a:p>
                      <a:r>
                        <a:t>城市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住宿建议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餐饮 / 苍蝇小馆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咖啡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证据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呼和浩特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汉庭火车站 9.6/10、222条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老绥元烧麦 4.5/5、¥56；宽巷子羊杂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东护城河/暖咖啡约 4.0/5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S34;S35;S45;S46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包头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包头宾馆 9.0/10、1,011条、停车充电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牧人嘎查 4.8/5、¥84；小肥羊 ¥96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星巴克 ¥33；树下 ¥23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S36;S42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鄂尔多斯/东胜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紫金国际 8.9–9.2/10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本地炖菜 / 农家宴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独立咖啡证据弱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S20;S23;S43</a:t>
                      </a:r>
                    </a:p>
                  </a:txBody>
                  <a:tcPr marL="91440" marR="91440" marT="45720" marB="45720"/>
                </a:tc>
              </a:tr>
              <a:tr h="514350">
                <a:tc>
                  <a:txBody>
                    <a:bodyPr/>
                    <a:lstStyle/>
                    <a:p>
                      <a:r>
                        <a:t>草原/响沙湾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蒙古包/度假酒店波动大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景区餐饮仅作补给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沙漠咖啡是体验项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S20;S21;S43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1C85E2-D0D3-4136-ABEC-2F355241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3E6B8C"/>
                </a:solidFill>
              </a:defRPr>
            </a:pPr>
            <a:r>
              <a:rPr sz="900">
                <a:solidFill>
                  <a:srgbClr val="3E6B8C"/>
                </a:solidFill>
              </a:rPr>
              <a:t>现实判断：内蒙古的真实感更多来自路线与本地蒙餐；时间和预算优先留给沙漠项目、保暖装备与长途驾驶缓冲。</a:t>
            </a:r>
          </a:p>
        </p:txBody>
      </p:sp>
    </p:spTree>
    <p:extLst>
      <p:ext uri="{BB962C8B-B14F-4D97-AF65-F5344CB8AC3E}">
        <p14:creationId xmlns:p14="http://schemas.microsoft.com/office/powerpoint/2010/main" val="103535166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7EAE2B-C6CA-4064-9BE3-86A29E2B5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6D66"/>
                </a:solidFill>
              </a:defRPr>
            </a:pPr>
            <a:r>
              <a:rPr sz="900" b="1">
                <a:solidFill>
                  <a:srgbClr val="776D66"/>
                </a:solidFill>
              </a:rPr>
              <a:t>国庆自驾研究 · 2026-08-03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DA298-72FD-4E09-BCFF-E7EABD4E0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7C48"/>
                </a:solidFill>
              </a:defRPr>
            </a:pPr>
            <a:r>
              <a:rPr sz="1050" b="1">
                <a:solidFill>
                  <a:srgbClr val="F47C48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4D98F-470E-4374-95D0-043AEC6F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F"/>
          </a:solidFill>
          <a:ln xmlns:a="http://schemas.openxmlformats.org/drawingml/2006/main" w="0">
            <a:solidFill>
              <a:srgbClr val="E8DCC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2A5D011-BF50-4639-B36A-E8DB7FFF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C"/>
                </a:solidFill>
              </a:defRPr>
            </a:pPr>
            <a:r>
              <a:rPr sz="2550" b="1">
                <a:solidFill>
                  <a:srgbClr val="2B211C"/>
                </a:solidFill>
              </a:rPr>
              <a:t>证据表：每个数字都有来源状态，用户可在 PPT/CSV 中继续改和补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F9BCA-75D7-4CC7-9DF1-737ED7FAD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6D66"/>
                </a:solidFill>
              </a:defRPr>
            </a:pPr>
            <a:r>
              <a:rPr sz="1275">
                <a:solidFill>
                  <a:srgbClr val="776D66"/>
                </a:solidFill>
              </a:rPr>
              <a:t>A = 公开页可见数字；B = 体验/位置可见但数字不完整；M = 模型区间；X = 小红书检索入口，需手工复核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10820400" cy="35433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2164080"/>
                <a:gridCol w="2164080"/>
                <a:gridCol w="2164080"/>
                <a:gridCol w="2164080"/>
                <a:gridCol w="2164080"/>
              </a:tblGrid>
              <a:tr h="354330">
                <a:tc>
                  <a:txBody>
                    <a:bodyPr/>
                    <a:lstStyle/>
                    <a:p>
                      <a:r>
                        <a:t>类型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项目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价格/评分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状态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来源</a:t>
                      </a:r>
                    </a:p>
                  </a:txBody>
                  <a:tcPr marL="91440" marR="91440" marT="45720" marB="45720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t>交通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深—贵高铁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¥480.5–515.5/程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 / 公开样本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S01;S02</a:t>
                      </a:r>
                    </a:p>
                  </a:txBody>
                  <a:tcPr marL="91440" marR="91440" marT="45720" marB="45720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t>交通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深—贵飞机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¥610–1,080/程附近样本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 / 非目标日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S03;S04</a:t>
                      </a:r>
                    </a:p>
                  </a:txBody>
                  <a:tcPr marL="91440" marR="91440" marT="45720" marB="45720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t>租车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贵阳/兴义 SUV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¥250–500/天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 / 待下单核</a:t>
                      </a:r>
                    </a:p>
                  </a:txBody>
                  <a:tcPr marL="91440" marR="91440" marT="45720" marB="45720">
                    <a:solidFill>
                      <a:srgbClr val="FCE3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S07;S08</a:t>
                      </a:r>
                    </a:p>
                  </a:txBody>
                  <a:tcPr marL="91440" marR="91440" marT="45720" marB="45720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t>交通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深—呼飞机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¥2,100–3,250往返模型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M / 待下单核</a:t>
                      </a:r>
                    </a:p>
                  </a:txBody>
                  <a:tcPr marL="91440" marR="91440" marT="45720" marB="45720">
                    <a:solidFill>
                      <a:srgbClr val="FCE3D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S05;S06;S22</a:t>
                      </a:r>
                    </a:p>
                  </a:txBody>
                  <a:tcPr marL="91440" marR="91440" marT="45720" marB="45720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t>酒店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万峰林捌舍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4.9/5，261条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 / 住客评价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S25</a:t>
                      </a:r>
                    </a:p>
                  </a:txBody>
                  <a:tcPr marL="91440" marR="91440" marT="45720" marB="45720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t>酒店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安顺半山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9.5/10，约6,522条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 / 住客评价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S27</a:t>
                      </a:r>
                    </a:p>
                  </a:txBody>
                  <a:tcPr marL="91440" marR="91440" marT="45720" marB="45720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t>餐饮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老凯俚酸汤鱼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约¥79–87/人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 / 公开口径有差异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S29;S30</a:t>
                      </a:r>
                    </a:p>
                  </a:txBody>
                  <a:tcPr marL="91440" marR="91440" marT="45720" marB="45720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t>餐饮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老绥元烧麦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4.5/5，89条，约¥56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A / 公开页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S34</a:t>
                      </a:r>
                    </a:p>
                  </a:txBody>
                  <a:tcPr marL="91440" marR="91440" marT="45720" marB="45720"/>
                </a:tc>
              </a:tr>
              <a:tr h="354330">
                <a:tc>
                  <a:txBody>
                    <a:bodyPr/>
                    <a:lstStyle/>
                    <a:p>
                      <a:r>
                        <a:t>社媒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小红书推荐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不写硬评分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X / 登录后复核</a:t>
                      </a:r>
                    </a:p>
                  </a:txBody>
                  <a:tcPr marL="91440" marR="91440" marT="45720" marB="45720">
                    <a:solidFill>
                      <a:srgbClr val="DCEA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S37–S43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5CB786-5963-49B7-983C-109FD15A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66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776D66"/>
                </a:solidFill>
              </a:defRPr>
            </a:pPr>
            <a:r>
              <a:rPr sz="900">
                <a:solidFill>
                  <a:srgbClr val="776D66"/>
                </a:solidFill>
              </a:rPr>
              <a:t>完整 URL 在 speaker notes 与同目录 CSV；动态价格建议 9 月上旬、出发前 7 天复核。</a:t>
            </a:r>
          </a:p>
        </p:txBody>
      </p:sp>
    </p:spTree>
    <p:extLst>
      <p:ext uri="{BB962C8B-B14F-4D97-AF65-F5344CB8AC3E}">
        <p14:creationId xmlns:p14="http://schemas.microsoft.com/office/powerpoint/2010/main" val="203975442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8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9708E07-0119-470A-A9B4-D4E80323D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6D66"/>
                </a:solidFill>
              </a:defRPr>
            </a:pPr>
            <a:r>
              <a:rPr sz="900" b="1">
                <a:solidFill>
                  <a:srgbClr val="776D66"/>
                </a:solidFill>
              </a:rPr>
              <a:t>国庆自驾研究 · 2026-08-03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E20439-0BAD-4925-BF01-A9610525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7C48"/>
                </a:solidFill>
              </a:defRPr>
            </a:pPr>
            <a:r>
              <a:rPr sz="1050" b="1">
                <a:solidFill>
                  <a:srgbClr val="F47C48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599967-3776-453A-9229-22EDB2A04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F"/>
          </a:solidFill>
          <a:ln xmlns:a="http://schemas.openxmlformats.org/drawingml/2006/main" w="0">
            <a:solidFill>
              <a:srgbClr val="E8DCCF"/>
            </a:solidFill>
            <a:prstDash val="solid"/>
          </a:ln>
        </p:spPr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265E5E0-E7B9-4F33-B1AE-0B7DB5893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9906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B211C"/>
                </a:solidFill>
              </a:defRPr>
            </a:pPr>
            <a:r>
              <a:rPr sz="2550" b="1">
                <a:solidFill>
                  <a:srgbClr val="2B211C"/>
                </a:solidFill>
              </a:rPr>
              <a:t>落地流程：先锁不可逆资源，再按实时路况微调路线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0AC6B9-E1A6-4B31-B133-D4FBA9CE2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314450"/>
            <a:ext cx="1000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776D66"/>
                </a:solidFill>
              </a:defRPr>
            </a:pPr>
            <a:r>
              <a:rPr sz="1275">
                <a:solidFill>
                  <a:srgbClr val="776D66"/>
                </a:solidFill>
              </a:rPr>
              <a:t>把“计划 / 报价 / 订单 / 到店确认”四种状态分开</a:t>
            </a:r>
          </a:p>
        </p:txBody>
      </p:sp>
      <p:sp>
        <p:nvSpPr>
          <p:cNvPr id="6" name="flow-1">
            <a:extLst xmlns:a="http://schemas.openxmlformats.org/drawingml/2006/main">
              <a:ext uri="{FF2B5EF4-FFF2-40B4-BE49-F238E27FC236}">
                <a16:creationId xmlns:a16="http://schemas.microsoft.com/office/drawing/2014/main" id="{F9B50F8B-2959-4E71-81AB-E63847F48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81250"/>
            <a:ext cx="1524000" cy="18097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953F24-5A94-4423-B613-AB6A22AA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7C48"/>
                </a:solidFill>
              </a:defRPr>
            </a:pPr>
            <a:r>
              <a:rPr sz="1125" b="1">
                <a:solidFill>
                  <a:srgbClr val="F47C48"/>
                </a:solidFill>
              </a:rPr>
              <a:t>现在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505CB-333B-40FE-8D51-645D6679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718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11C"/>
                </a:solidFill>
              </a:defRPr>
            </a:pPr>
            <a:r>
              <a:rPr sz="1500" b="1">
                <a:solidFill>
                  <a:srgbClr val="2B211C"/>
                </a:solidFill>
              </a:rPr>
              <a:t>选路线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B81499-DE4F-4787-A53E-6D7A88A9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671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76D66"/>
                </a:solidFill>
              </a:defRPr>
            </a:pPr>
            <a:r>
              <a:rPr sz="1050">
                <a:solidFill>
                  <a:srgbClr val="776D66"/>
                </a:solidFill>
              </a:rPr>
              <a:t>确定 10/5 还是 10/6</a:t>
            </a:r>
          </a:p>
          <a:p xmlns:a="http://schemas.openxmlformats.org/drawingml/2006/main">
            <a:pPr algn="ctr">
              <a:defRPr sz="1050">
                <a:solidFill>
                  <a:srgbClr val="776D66"/>
                </a:solidFill>
              </a:defRPr>
            </a:pPr>
            <a:r>
              <a:rPr sz="1050">
                <a:solidFill>
                  <a:srgbClr val="776D66"/>
                </a:solidFill>
              </a:rPr>
              <a:t>确定贵州 / 内蒙古</a:t>
            </a:r>
          </a:p>
        </p:txBody>
      </p:sp>
      <p:sp>
        <p:nvSpPr>
          <p:cNvPr id="10" name="flow-2">
            <a:extLst xmlns:a="http://schemas.openxmlformats.org/drawingml/2006/main">
              <a:ext uri="{FF2B5EF4-FFF2-40B4-BE49-F238E27FC236}">
                <a16:creationId xmlns:a16="http://schemas.microsoft.com/office/drawing/2014/main" id="{C5C041CC-7F51-4A30-AA13-7ABE13B5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2381250"/>
            <a:ext cx="1524000" cy="18097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8F48B5-E0EB-424D-BD3A-E83D11554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098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7C48"/>
                </a:solidFill>
              </a:defRPr>
            </a:pPr>
            <a:r>
              <a:rPr sz="1125" b="1">
                <a:solidFill>
                  <a:srgbClr val="F47C48"/>
                </a:solidFill>
              </a:rPr>
              <a:t>出发前 45–30 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632998-2C5A-4F72-9140-2519AD93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718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11C"/>
                </a:solidFill>
              </a:defRPr>
            </a:pPr>
            <a:r>
              <a:rPr sz="1500" b="1">
                <a:solidFill>
                  <a:srgbClr val="2B211C"/>
                </a:solidFill>
              </a:rPr>
              <a:t>锁交通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1DCF78-4C60-4BA3-B562-33276DE84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671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76D66"/>
                </a:solidFill>
              </a:defRPr>
            </a:pPr>
            <a:r>
              <a:rPr sz="1050">
                <a:solidFill>
                  <a:srgbClr val="776D66"/>
                </a:solidFill>
              </a:rPr>
              <a:t>比机票 / 高铁</a:t>
            </a:r>
          </a:p>
          <a:p xmlns:a="http://schemas.openxmlformats.org/drawingml/2006/main">
            <a:pPr algn="ctr">
              <a:defRPr sz="1050">
                <a:solidFill>
                  <a:srgbClr val="776D66"/>
                </a:solidFill>
              </a:defRPr>
            </a:pPr>
            <a:r>
              <a:rPr sz="1050">
                <a:solidFill>
                  <a:srgbClr val="776D66"/>
                </a:solidFill>
              </a:rPr>
              <a:t>优先可退或可改</a:t>
            </a:r>
          </a:p>
        </p:txBody>
      </p:sp>
      <p:sp>
        <p:nvSpPr>
          <p:cNvPr id="14" name="flow-3">
            <a:extLst xmlns:a="http://schemas.openxmlformats.org/drawingml/2006/main">
              <a:ext uri="{FF2B5EF4-FFF2-40B4-BE49-F238E27FC236}">
                <a16:creationId xmlns:a16="http://schemas.microsoft.com/office/drawing/2014/main" id="{035C04A6-9035-4150-A575-9D0BAFDE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81250"/>
            <a:ext cx="1524000" cy="18097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C31DB-0BAD-4949-8974-D2375B63B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098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7C48"/>
                </a:solidFill>
              </a:defRPr>
            </a:pPr>
            <a:r>
              <a:rPr sz="1125" b="1">
                <a:solidFill>
                  <a:srgbClr val="F47C48"/>
                </a:solidFill>
              </a:rPr>
              <a:t>出发前 30–20 天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4DC183-E67C-43BD-AE7E-2625DD6CA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718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11C"/>
                </a:solidFill>
              </a:defRPr>
            </a:pPr>
            <a:r>
              <a:rPr sz="1500" b="1">
                <a:solidFill>
                  <a:srgbClr val="2B211C"/>
                </a:solidFill>
              </a:rPr>
              <a:t>锁租车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E05A8BD-D7B1-4366-8E28-A7FEAE00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671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76D66"/>
                </a:solidFill>
              </a:defRPr>
            </a:pPr>
            <a:r>
              <a:rPr sz="1050">
                <a:solidFill>
                  <a:srgbClr val="776D66"/>
                </a:solidFill>
              </a:rPr>
              <a:t>车型、保险、超公里</a:t>
            </a:r>
          </a:p>
          <a:p xmlns:a="http://schemas.openxmlformats.org/drawingml/2006/main">
            <a:pPr algn="ctr">
              <a:defRPr sz="1050">
                <a:solidFill>
                  <a:srgbClr val="776D66"/>
                </a:solidFill>
              </a:defRPr>
            </a:pPr>
            <a:r>
              <a:rPr sz="1050">
                <a:solidFill>
                  <a:srgbClr val="776D66"/>
                </a:solidFill>
              </a:rPr>
              <a:t>异地还车资格</a:t>
            </a:r>
          </a:p>
        </p:txBody>
      </p:sp>
      <p:sp>
        <p:nvSpPr>
          <p:cNvPr id="18" name="flow-4">
            <a:extLst xmlns:a="http://schemas.openxmlformats.org/drawingml/2006/main">
              <a:ext uri="{FF2B5EF4-FFF2-40B4-BE49-F238E27FC236}">
                <a16:creationId xmlns:a16="http://schemas.microsoft.com/office/drawing/2014/main" id="{21A41F17-9456-431B-85C6-46E482BF9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381250"/>
            <a:ext cx="1524000" cy="18097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0801A-C414-4E0D-BACB-0438DA871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098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7C48"/>
                </a:solidFill>
              </a:defRPr>
            </a:pPr>
            <a:r>
              <a:rPr sz="1125" b="1">
                <a:solidFill>
                  <a:srgbClr val="F47C48"/>
                </a:solidFill>
              </a:rPr>
              <a:t>出发前 20–10 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54091-6398-4673-8AD6-18FF415F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718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11C"/>
                </a:solidFill>
              </a:defRPr>
            </a:pPr>
            <a:r>
              <a:rPr sz="1500" b="1">
                <a:solidFill>
                  <a:srgbClr val="2B211C"/>
                </a:solidFill>
              </a:rPr>
              <a:t>锁酒店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FE6112-A7B1-454A-9BA0-10669122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4671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76D66"/>
                </a:solidFill>
              </a:defRPr>
            </a:pPr>
            <a:r>
              <a:rPr sz="1050">
                <a:solidFill>
                  <a:srgbClr val="776D66"/>
                </a:solidFill>
              </a:rPr>
              <a:t>景区房少就改住城市基地</a:t>
            </a:r>
          </a:p>
          <a:p xmlns:a="http://schemas.openxmlformats.org/drawingml/2006/main">
            <a:pPr algn="ctr">
              <a:defRPr sz="1050">
                <a:solidFill>
                  <a:srgbClr val="776D66"/>
                </a:solidFill>
              </a:defRPr>
            </a:pPr>
            <a:r>
              <a:rPr sz="1050">
                <a:solidFill>
                  <a:srgbClr val="776D66"/>
                </a:solidFill>
              </a:rPr>
              <a:t>保留取消窗口</a:t>
            </a:r>
          </a:p>
        </p:txBody>
      </p:sp>
      <p:sp>
        <p:nvSpPr>
          <p:cNvPr id="22" name="flow-5">
            <a:extLst xmlns:a="http://schemas.openxmlformats.org/drawingml/2006/main">
              <a:ext uri="{FF2B5EF4-FFF2-40B4-BE49-F238E27FC236}">
                <a16:creationId xmlns:a16="http://schemas.microsoft.com/office/drawing/2014/main" id="{EF50EA19-9877-4BC4-B1F0-35A62FD59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381250"/>
            <a:ext cx="1524000" cy="18097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DCC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01B0A9-6EEC-4B74-A4CA-384AA89B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098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47C48"/>
                </a:solidFill>
              </a:defRPr>
            </a:pPr>
            <a:r>
              <a:rPr sz="1125" b="1">
                <a:solidFill>
                  <a:srgbClr val="F47C48"/>
                </a:solidFill>
              </a:rPr>
              <a:t>出发前 7 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A7AFB-C704-478D-BDEF-6FFC980DE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9718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B211C"/>
                </a:solidFill>
              </a:defRPr>
            </a:pPr>
            <a:r>
              <a:rPr sz="1500" b="1">
                <a:solidFill>
                  <a:srgbClr val="2B211C"/>
                </a:solidFill>
              </a:rPr>
              <a:t>复核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4A8ACE-0250-4B75-AFC6-25DE64A0B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671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776D66"/>
                </a:solidFill>
              </a:defRPr>
            </a:pPr>
            <a:r>
              <a:rPr sz="1050">
                <a:solidFill>
                  <a:srgbClr val="776D66"/>
                </a:solidFill>
              </a:rPr>
              <a:t>天气、路况、营业</a:t>
            </a:r>
          </a:p>
          <a:p xmlns:a="http://schemas.openxmlformats.org/drawingml/2006/main">
            <a:pPr algn="ctr">
              <a:defRPr sz="1050">
                <a:solidFill>
                  <a:srgbClr val="776D66"/>
                </a:solidFill>
              </a:defRPr>
            </a:pPr>
            <a:r>
              <a:rPr sz="1050">
                <a:solidFill>
                  <a:srgbClr val="776D66"/>
                </a:solidFill>
              </a:rPr>
              <a:t>小红书近期笔记</a:t>
            </a:r>
          </a:p>
        </p:txBody>
      </p:sp>
      <p:sp>
        <p:nvSpPr>
          <p:cNvPr id="26" name="flow-6">
            <a:extLst xmlns:a="http://schemas.openxmlformats.org/drawingml/2006/main">
              <a:ext uri="{FF2B5EF4-FFF2-40B4-BE49-F238E27FC236}">
                <a16:creationId xmlns:a16="http://schemas.microsoft.com/office/drawing/2014/main" id="{05061401-E4F9-40E9-8253-1D30AB1E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81250"/>
            <a:ext cx="1524000" cy="180975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F47C48"/>
          </a:solidFill>
          <a:ln xmlns:a="http://schemas.openxmlformats.org/drawingml/2006/main" w="9525">
            <a:solidFill>
              <a:srgbClr val="F47C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D338D7-1D8F-4752-B078-5E1490B12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609850"/>
            <a:ext cx="121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出发当天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C27CA3-C897-4831-9F85-8B8B7B5A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71800"/>
            <a:ext cx="1257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执行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AD3CF67-C7E5-4DE9-870B-1D92DA597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467100"/>
            <a:ext cx="1257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早入景区</a:t>
            </a:r>
          </a:p>
          <a:p xmlns:a="http://schemas.openxmlformats.org/drawingml/2006/main">
            <a:pPr algn="ctr">
              <a:defRPr sz="1050">
                <a:solidFill>
                  <a:srgbClr val="FFFFFF"/>
                </a:solidFill>
              </a:defRPr>
            </a:pPr>
            <a:r>
              <a:rPr sz="1050">
                <a:solidFill>
                  <a:srgbClr val="FFFFFF"/>
                </a:solidFill>
              </a:rPr>
              <a:t>动态避堵 / 备用餐馆</a:t>
            </a:r>
          </a:p>
        </p:txBody>
      </p:sp>
      <p:cxnSp>
        <p:nvCxnSpPr>
          <p:cNvPr id="67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224790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7C48"/>
            </a:solidFill>
            <a:prstDash val="solid"/>
            <a:headEnd type="arrow" w="sm" len="sm"/>
          </a:ln>
        </p:spPr>
      </p:cxnSp>
      <p:cxnSp>
        <p:nvCxnSpPr>
          <p:cNvPr id="68" name="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405765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7C48"/>
            </a:solidFill>
            <a:prstDash val="solid"/>
            <a:headEnd type="arrow" w="sm" len="sm"/>
          </a:ln>
        </p:spPr>
      </p:cxnSp>
      <p:cxnSp>
        <p:nvCxnSpPr>
          <p:cNvPr id="69" name="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586740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7C48"/>
            </a:solidFill>
            <a:prstDash val="solid"/>
            <a:headEnd type="arrow" w="sm" len="sm"/>
          </a:ln>
        </p:spPr>
      </p:cxnSp>
      <p:cxnSp>
        <p:nvCxnSpPr>
          <p:cNvPr id="70" name=""/>
          <p:cNvCxnSpPr>
            <a:stCxn xmlns:a="http://schemas.openxmlformats.org/drawingml/2006/main" id="18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767715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7C48"/>
            </a:solidFill>
            <a:prstDash val="solid"/>
            <a:headEnd type="arrow" w="sm" len="sm"/>
          </a:ln>
        </p:spPr>
      </p:cxnSp>
      <p:cxnSp>
        <p:nvCxnSpPr>
          <p:cNvPr id="71" name=""/>
          <p:cNvCxnSpPr>
            <a:stCxn xmlns:a="http://schemas.openxmlformats.org/drawingml/2006/main" id="22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9486900" y="3286125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47C48"/>
            </a:solidFill>
            <a:prstDash val="solid"/>
            <a:headEnd type="arrow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95516D0-B179-44A3-AB34-C61BB4CB7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10287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5E8DA"/>
          </a:solidFill>
          <a:ln xmlns:a="http://schemas.openxmlformats.org/drawingml/2006/main" w="9525">
            <a:solidFill>
              <a:srgbClr val="F5E8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01783B-8F2B-47B3-B88E-DCBA0720A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1435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B211C"/>
                </a:solidFill>
              </a:defRPr>
            </a:pPr>
            <a:r>
              <a:rPr sz="1350" b="1">
                <a:solidFill>
                  <a:srgbClr val="2B211C"/>
                </a:solidFill>
              </a:rPr>
              <a:t>必要的人工复核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9229669-D2EE-41D5-A05B-A871F33D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86350"/>
            <a:ext cx="809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2B211C"/>
                </a:solidFill>
              </a:defRPr>
            </a:pPr>
            <a:r>
              <a:rPr sz="1200">
                <a:solidFill>
                  <a:srgbClr val="2B211C"/>
                </a:solidFill>
              </a:rPr>
              <a:t>小红书原文、国庆营业、景区分时预约、酒店停车/接驳、租车保险与异地还车费，都不要仅凭搜索摘要下结论。</a:t>
            </a:r>
          </a:p>
        </p:txBody>
      </p:sp>
    </p:spTree>
    <p:extLst>
      <p:ext uri="{BB962C8B-B14F-4D97-AF65-F5344CB8AC3E}">
        <p14:creationId xmlns:p14="http://schemas.microsoft.com/office/powerpoint/2010/main" val="18736287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2B21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6359CD-9728-45B7-B75C-E5415149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"/>
            <a:ext cx="514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776D66"/>
                </a:solidFill>
              </a:defRPr>
            </a:pPr>
            <a:r>
              <a:rPr sz="900" b="1">
                <a:solidFill>
                  <a:srgbClr val="776D66"/>
                </a:solidFill>
              </a:rPr>
              <a:t>国庆自驾研究 · 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E03738-FCE3-4D95-9BAC-171A24BD9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47C48"/>
                </a:solidFill>
              </a:defRPr>
            </a:pPr>
            <a:r>
              <a:rPr sz="1050" b="1">
                <a:solidFill>
                  <a:srgbClr val="F47C48"/>
                </a:solidFill>
              </a:rPr>
              <a:t>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8C6D22-E7B3-40F6-A574-95B6B4D7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CCF"/>
          </a:solidFill>
          <a:ln xmlns:a="http://schemas.openxmlformats.org/drawingml/2006/main" w="0">
            <a:solidFill>
              <a:srgbClr val="E8DCC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6EDEB-E732-40EF-BF97-D95C1EC3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下一步只需要做一个选择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02E76-22E6-4FBA-B81F-7FB0C1AF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1162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7C48"/>
          </a:solidFill>
          <a:ln xmlns:a="http://schemas.openxmlformats.org/drawingml/2006/main" w="0">
            <a:solidFill>
              <a:srgbClr val="F47C4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19A917-E705-45EA-82AE-C7692DE8F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7C48"/>
                </a:solidFill>
              </a:defRPr>
            </a:pPr>
            <a:r>
              <a:rPr sz="2250" b="1">
                <a:solidFill>
                  <a:srgbClr val="F47C48"/>
                </a:solidFill>
              </a:rPr>
              <a:t>你能不能把返程放到 10 月 6 日？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18B53-E708-4DE4-AB94-32E15F27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7625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7C48"/>
          </a:solidFill>
          <a:ln xmlns:a="http://schemas.openxmlformats.org/drawingml/2006/main" w="9525">
            <a:solidFill>
              <a:srgbClr val="F47C4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AECBCC-4FDD-4FB5-B9C3-4793B029A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10000"/>
            <a:ext cx="4095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能 → 贵州舒适环线</a:t>
            </a:r>
          </a:p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现在就按 7 晚去锁贵阳 / 兴义 / 织金住宿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014CB1-055B-401D-A9B7-B6892551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390900"/>
            <a:ext cx="560070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3E6B8C"/>
          </a:solidFill>
          <a:ln xmlns:a="http://schemas.openxmlformats.org/drawingml/2006/main" w="9525">
            <a:solidFill>
              <a:srgbClr val="3E6B8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FFA89-DE7E-40C0-ACA3-C4F40A608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8100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不能 → 贵州高强度版 / 呼和浩特稳妥线</a:t>
            </a:r>
          </a:p>
          <a:p xmlns:a="http://schemas.openxmlformats.org/drawingml/2006/main">
            <a:pPr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优先锁交通，再决定住景区还是住城市基地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A68B6-61AE-4C26-9478-092A6C0C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7810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5E8DA"/>
                </a:solidFill>
              </a:defRPr>
            </a:pPr>
            <a:r>
              <a:rPr sz="1200">
                <a:solidFill>
                  <a:srgbClr val="F5E8DA"/>
                </a:solidFill>
              </a:rPr>
              <a:t>报告文件：PPTX 可编辑版 + CSV 证据表</a:t>
            </a:r>
          </a:p>
          <a:p xmlns:a="http://schemas.openxmlformats.org/drawingml/2006/main">
            <a:pPr>
              <a:defRPr sz="1200">
                <a:solidFill>
                  <a:srgbClr val="F5E8DA"/>
                </a:solidFill>
              </a:defRPr>
            </a:pPr>
            <a:r>
              <a:rPr sz="1200">
                <a:solidFill>
                  <a:srgbClr val="F5E8DA"/>
                </a:solidFill>
              </a:rPr>
              <a:t>查询基准日：2026-08-03 · 动态价格请在下单前复核</a:t>
            </a:r>
          </a:p>
        </p:txBody>
      </p:sp>
    </p:spTree>
    <p:extLst>
      <p:ext uri="{BB962C8B-B14F-4D97-AF65-F5344CB8AC3E}">
        <p14:creationId xmlns:p14="http://schemas.microsoft.com/office/powerpoint/2010/main" val="18273937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2026-08-03T08:31:58.8230000Z</dcterms:created>
  <dcterms:modified xsi:type="dcterms:W3CDTF">2026-08-03T08:31:58.8230000Z</dcterms:modified>
</coreProperties>
</file>